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8288000" cy="10287000"/>
  <p:notesSz cx="6858000" cy="9144000"/>
  <p:embeddedFontLst>
    <p:embeddedFont>
      <p:font typeface="Lato" panose="020F0502020204030203" pitchFamily="34" charset="0"/>
      <p:regular r:id="rId13"/>
    </p:embeddedFont>
    <p:embeddedFont>
      <p:font typeface="Lato Bold" panose="020B0604020202020204" charset="0"/>
      <p:regular r:id="rId14"/>
    </p:embeddedFont>
    <p:embeddedFont>
      <p:font typeface="Lato Heavy" panose="020B0604020202020204" charset="0"/>
      <p:regular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40" d="100"/>
          <a:sy n="40" d="100"/>
        </p:scale>
        <p:origin x="78" y="105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10" Type="http://schemas.openxmlformats.org/officeDocument/2006/relationships/image" Target="../media/image27.png"/><Relationship Id="rId4" Type="http://schemas.openxmlformats.org/officeDocument/2006/relationships/image" Target="../media/image21.png"/><Relationship Id="rId9" Type="http://schemas.openxmlformats.org/officeDocument/2006/relationships/image" Target="../media/image2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Relationship Id="rId9" Type="http://schemas.openxmlformats.org/officeDocument/2006/relationships/image" Target="../media/image4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3" Type="http://schemas.openxmlformats.org/officeDocument/2006/relationships/image" Target="../media/image48.png"/><Relationship Id="rId7" Type="http://schemas.openxmlformats.org/officeDocument/2006/relationships/image" Target="../media/image52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13" Type="http://schemas.openxmlformats.org/officeDocument/2006/relationships/image" Target="../media/image70.png"/><Relationship Id="rId3" Type="http://schemas.openxmlformats.org/officeDocument/2006/relationships/image" Target="../media/image60.png"/><Relationship Id="rId7" Type="http://schemas.openxmlformats.org/officeDocument/2006/relationships/image" Target="../media/image64.png"/><Relationship Id="rId12" Type="http://schemas.openxmlformats.org/officeDocument/2006/relationships/image" Target="../media/image69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3.png"/><Relationship Id="rId11" Type="http://schemas.openxmlformats.org/officeDocument/2006/relationships/image" Target="../media/image68.png"/><Relationship Id="rId5" Type="http://schemas.openxmlformats.org/officeDocument/2006/relationships/image" Target="../media/image62.png"/><Relationship Id="rId10" Type="http://schemas.openxmlformats.org/officeDocument/2006/relationships/image" Target="../media/image67.png"/><Relationship Id="rId4" Type="http://schemas.openxmlformats.org/officeDocument/2006/relationships/image" Target="../media/image61.png"/><Relationship Id="rId9" Type="http://schemas.openxmlformats.org/officeDocument/2006/relationships/image" Target="../media/image66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3" Type="http://schemas.openxmlformats.org/officeDocument/2006/relationships/image" Target="../media/image72.png"/><Relationship Id="rId7" Type="http://schemas.openxmlformats.org/officeDocument/2006/relationships/image" Target="../media/image76.png"/><Relationship Id="rId12" Type="http://schemas.openxmlformats.org/officeDocument/2006/relationships/image" Target="../media/image81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5.png"/><Relationship Id="rId11" Type="http://schemas.openxmlformats.org/officeDocument/2006/relationships/image" Target="../media/image80.png"/><Relationship Id="rId5" Type="http://schemas.openxmlformats.org/officeDocument/2006/relationships/image" Target="../media/image74.png"/><Relationship Id="rId10" Type="http://schemas.openxmlformats.org/officeDocument/2006/relationships/image" Target="../media/image79.png"/><Relationship Id="rId4" Type="http://schemas.openxmlformats.org/officeDocument/2006/relationships/image" Target="../media/image73.png"/><Relationship Id="rId9" Type="http://schemas.openxmlformats.org/officeDocument/2006/relationships/image" Target="../media/image7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0" y="0"/>
            <a:ext cx="12851914" cy="10287000"/>
          </a:xfrm>
          <a:custGeom>
            <a:avLst/>
            <a:gdLst/>
            <a:ahLst/>
            <a:cxnLst/>
            <a:rect l="l" t="t" r="r" b="b"/>
            <a:pathLst>
              <a:path w="12851914" h="10287000">
                <a:moveTo>
                  <a:pt x="0" y="0"/>
                </a:moveTo>
                <a:lnTo>
                  <a:pt x="12851914" y="0"/>
                </a:lnTo>
                <a:lnTo>
                  <a:pt x="12851914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0" y="7280704"/>
            <a:ext cx="4572000" cy="3006296"/>
          </a:xfrm>
          <a:custGeom>
            <a:avLst/>
            <a:gdLst/>
            <a:ahLst/>
            <a:cxnLst/>
            <a:rect l="l" t="t" r="r" b="b"/>
            <a:pathLst>
              <a:path w="4572000" h="3006296">
                <a:moveTo>
                  <a:pt x="0" y="0"/>
                </a:moveTo>
                <a:lnTo>
                  <a:pt x="4572000" y="0"/>
                </a:lnTo>
                <a:lnTo>
                  <a:pt x="4572000" y="3006296"/>
                </a:lnTo>
                <a:lnTo>
                  <a:pt x="0" y="300629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0883110" y="1705390"/>
            <a:ext cx="7404890" cy="8581610"/>
          </a:xfrm>
          <a:custGeom>
            <a:avLst/>
            <a:gdLst/>
            <a:ahLst/>
            <a:cxnLst/>
            <a:rect l="l" t="t" r="r" b="b"/>
            <a:pathLst>
              <a:path w="7404890" h="8581610">
                <a:moveTo>
                  <a:pt x="0" y="0"/>
                </a:moveTo>
                <a:lnTo>
                  <a:pt x="7404890" y="0"/>
                </a:lnTo>
                <a:lnTo>
                  <a:pt x="7404890" y="8581610"/>
                </a:lnTo>
                <a:lnTo>
                  <a:pt x="0" y="85816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2184708" y="2569017"/>
            <a:ext cx="6103292" cy="6012593"/>
          </a:xfrm>
          <a:custGeom>
            <a:avLst/>
            <a:gdLst/>
            <a:ahLst/>
            <a:cxnLst/>
            <a:rect l="l" t="t" r="r" b="b"/>
            <a:pathLst>
              <a:path w="6103292" h="6012593">
                <a:moveTo>
                  <a:pt x="0" y="0"/>
                </a:moveTo>
                <a:lnTo>
                  <a:pt x="6103292" y="0"/>
                </a:lnTo>
                <a:lnTo>
                  <a:pt x="6103292" y="6012593"/>
                </a:lnTo>
                <a:lnTo>
                  <a:pt x="0" y="601259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959054" y="1603178"/>
            <a:ext cx="11250841" cy="29514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53"/>
              </a:lnSpc>
            </a:pPr>
            <a:r>
              <a:rPr lang="en-US" sz="6626" b="1">
                <a:solidFill>
                  <a:srgbClr val="042F74"/>
                </a:solidFill>
                <a:latin typeface="Lato Heavy"/>
                <a:ea typeface="Lato Heavy"/>
                <a:cs typeface="Lato Heavy"/>
                <a:sym typeface="Lato Heavy"/>
              </a:rPr>
              <a:t>XÂY DỰNG MÔ HÌNH</a:t>
            </a:r>
          </a:p>
          <a:p>
            <a:pPr algn="l">
              <a:lnSpc>
                <a:spcPts val="7753"/>
              </a:lnSpc>
            </a:pPr>
            <a:r>
              <a:rPr lang="en-US" sz="6626" b="1">
                <a:solidFill>
                  <a:srgbClr val="042F74"/>
                </a:solidFill>
                <a:latin typeface="Lato Heavy"/>
                <a:ea typeface="Lato Heavy"/>
                <a:cs typeface="Lato Heavy"/>
                <a:sym typeface="Lato Heavy"/>
              </a:rPr>
              <a:t>PHÂN KHÚC KHÁCH HÀNG</a:t>
            </a:r>
          </a:p>
          <a:p>
            <a:pPr algn="l">
              <a:lnSpc>
                <a:spcPts val="7753"/>
              </a:lnSpc>
            </a:pPr>
            <a:r>
              <a:rPr lang="en-US" sz="6626" b="1">
                <a:solidFill>
                  <a:srgbClr val="042F74"/>
                </a:solidFill>
                <a:latin typeface="Lato Heavy"/>
                <a:ea typeface="Lato Heavy"/>
                <a:cs typeface="Lato Heavy"/>
                <a:sym typeface="Lato Heavy"/>
              </a:rPr>
              <a:t>E-COMMERCE OLIST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05853" y="4706275"/>
            <a:ext cx="9249878" cy="7410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178"/>
              </a:lnSpc>
            </a:pPr>
            <a:r>
              <a:rPr lang="en-US" sz="4412" b="1">
                <a:solidFill>
                  <a:srgbClr val="F58634"/>
                </a:solidFill>
                <a:latin typeface="Lato Heavy"/>
                <a:ea typeface="Lato Heavy"/>
                <a:cs typeface="Lato Heavy"/>
                <a:sym typeface="Lato Heavy"/>
              </a:rPr>
              <a:t>Kết hợp RFM và trải nghiệm dịch vụ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44708" y="6084591"/>
            <a:ext cx="8043265" cy="8411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84"/>
              </a:lnSpc>
            </a:pPr>
            <a:r>
              <a:rPr lang="en-US" sz="2488" b="1">
                <a:solidFill>
                  <a:srgbClr val="042F74"/>
                </a:solidFill>
                <a:latin typeface="Lato Bold"/>
                <a:ea typeface="Lato Bold"/>
                <a:cs typeface="Lato Bold"/>
                <a:sym typeface="Lato Bold"/>
              </a:rPr>
              <a:t>Trường Đại học Công Thương Thành phố Hồ Chí Minh ·</a:t>
            </a:r>
          </a:p>
          <a:p>
            <a:pPr algn="l">
              <a:lnSpc>
                <a:spcPts val="3484"/>
              </a:lnSpc>
            </a:pPr>
            <a:r>
              <a:rPr lang="en-US" sz="2488" b="1">
                <a:solidFill>
                  <a:srgbClr val="042F74"/>
                </a:solidFill>
                <a:latin typeface="Lato Bold"/>
                <a:ea typeface="Lato Bold"/>
                <a:cs typeface="Lato Bold"/>
                <a:sym typeface="Lato Bold"/>
              </a:rPr>
              <a:t>Khoa Công nghệ thông tin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34107" y="7184255"/>
            <a:ext cx="9103337" cy="3358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06"/>
              </a:lnSpc>
            </a:pPr>
            <a:r>
              <a:rPr lang="en-US" sz="2003">
                <a:solidFill>
                  <a:srgbClr val="042F74"/>
                </a:solidFill>
                <a:latin typeface="Lato"/>
                <a:ea typeface="Lato"/>
                <a:cs typeface="Lato"/>
                <a:sym typeface="Lato"/>
              </a:rPr>
              <a:t>Trần Duy Minh Phát · Huỳnh Bổ Bửu Quang · Phạm Quốc Ân · Tháng 10 /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0" y="7280704"/>
            <a:ext cx="4364182" cy="3006296"/>
          </a:xfrm>
          <a:custGeom>
            <a:avLst/>
            <a:gdLst/>
            <a:ahLst/>
            <a:cxnLst/>
            <a:rect l="l" t="t" r="r" b="b"/>
            <a:pathLst>
              <a:path w="4364182" h="3006296">
                <a:moveTo>
                  <a:pt x="0" y="0"/>
                </a:moveTo>
                <a:lnTo>
                  <a:pt x="4364182" y="0"/>
                </a:lnTo>
                <a:lnTo>
                  <a:pt x="4364182" y="3006296"/>
                </a:lnTo>
                <a:lnTo>
                  <a:pt x="0" y="30062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1320622" y="0"/>
            <a:ext cx="6967378" cy="6220301"/>
          </a:xfrm>
          <a:custGeom>
            <a:avLst/>
            <a:gdLst/>
            <a:ahLst/>
            <a:cxnLst/>
            <a:rect l="l" t="t" r="r" b="b"/>
            <a:pathLst>
              <a:path w="6967378" h="6220301">
                <a:moveTo>
                  <a:pt x="0" y="0"/>
                </a:moveTo>
                <a:lnTo>
                  <a:pt x="6967378" y="0"/>
                </a:lnTo>
                <a:lnTo>
                  <a:pt x="6967378" y="6220301"/>
                </a:lnTo>
                <a:lnTo>
                  <a:pt x="0" y="622030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0445598" y="4919394"/>
            <a:ext cx="7842402" cy="5367606"/>
          </a:xfrm>
          <a:custGeom>
            <a:avLst/>
            <a:gdLst/>
            <a:ahLst/>
            <a:cxnLst/>
            <a:rect l="l" t="t" r="r" b="b"/>
            <a:pathLst>
              <a:path w="7842402" h="5367606">
                <a:moveTo>
                  <a:pt x="0" y="0"/>
                </a:moveTo>
                <a:lnTo>
                  <a:pt x="7842402" y="0"/>
                </a:lnTo>
                <a:lnTo>
                  <a:pt x="7842402" y="5367606"/>
                </a:lnTo>
                <a:lnTo>
                  <a:pt x="0" y="536760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1004657" y="1444489"/>
            <a:ext cx="9369447" cy="18568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46"/>
              </a:lnSpc>
            </a:pPr>
            <a:r>
              <a:rPr lang="en-US" sz="6839" b="1">
                <a:solidFill>
                  <a:srgbClr val="063682"/>
                </a:solidFill>
                <a:latin typeface="Lato Heavy"/>
                <a:ea typeface="Lato Heavy"/>
                <a:cs typeface="Lato Heavy"/>
                <a:sym typeface="Lato Heavy"/>
              </a:rPr>
              <a:t>Vì sao cần</a:t>
            </a:r>
          </a:p>
          <a:p>
            <a:pPr algn="l">
              <a:lnSpc>
                <a:spcPts val="7246"/>
              </a:lnSpc>
            </a:pPr>
            <a:r>
              <a:rPr lang="en-US" sz="6839" b="1">
                <a:solidFill>
                  <a:srgbClr val="063682"/>
                </a:solidFill>
                <a:latin typeface="Lato Heavy"/>
                <a:ea typeface="Lato Heavy"/>
                <a:cs typeface="Lato Heavy"/>
                <a:sym typeface="Lato Heavy"/>
              </a:rPr>
              <a:t>phân khúc khách hàng?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05050" y="3839105"/>
            <a:ext cx="9862161" cy="9519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57204" lvl="1" indent="-328602" algn="l">
              <a:lnSpc>
                <a:spcPts val="3898"/>
              </a:lnSpc>
              <a:buFont typeface="Arial"/>
              <a:buChar char="•"/>
            </a:pPr>
            <a:r>
              <a:rPr lang="en-US" sz="3045" b="1">
                <a:solidFill>
                  <a:srgbClr val="063682"/>
                </a:solidFill>
                <a:latin typeface="Lato Bold"/>
                <a:ea typeface="Lato Bold"/>
                <a:cs typeface="Lato Bold"/>
                <a:sym typeface="Lato Bold"/>
              </a:rPr>
              <a:t>Chi phí thu hút khách hàng mới thường cao gấp 5–7 lần chi phí giữ chân khách hàng hiện hữu.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11242" y="5119276"/>
            <a:ext cx="9243004" cy="9519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57204" lvl="1" indent="-328602" algn="l">
              <a:lnSpc>
                <a:spcPts val="3898"/>
              </a:lnSpc>
              <a:buFont typeface="Arial"/>
              <a:buChar char="•"/>
            </a:pPr>
            <a:r>
              <a:rPr lang="en-US" sz="3045" b="1">
                <a:solidFill>
                  <a:srgbClr val="063682"/>
                </a:solidFill>
                <a:latin typeface="Lato Bold"/>
                <a:ea typeface="Lato Bold"/>
                <a:cs typeface="Lato Bold"/>
                <a:sym typeface="Lato Bold"/>
              </a:rPr>
              <a:t>Tăng tỷ lệ giữ chân 5% có thể làm lợi nhuận tăng 25–95%.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04628" y="6384387"/>
            <a:ext cx="9904402" cy="9519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57204" lvl="1" indent="-328602" algn="l">
              <a:lnSpc>
                <a:spcPts val="3898"/>
              </a:lnSpc>
              <a:buFont typeface="Arial"/>
              <a:buChar char="•"/>
            </a:pPr>
            <a:r>
              <a:rPr lang="en-US" sz="3045" b="1">
                <a:solidFill>
                  <a:srgbClr val="063682"/>
                </a:solidFill>
                <a:latin typeface="Lato Bold"/>
                <a:ea typeface="Lato Bold"/>
                <a:cs typeface="Lato Bold"/>
                <a:sym typeface="Lato Bold"/>
              </a:rPr>
              <a:t>Olist có 96.096 khách hàng thực tế; 96,99% chỉ mua một lần trong giai đoạn khảo sát.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2374721" y="1746089"/>
            <a:ext cx="2842757" cy="17406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354"/>
              </a:lnSpc>
            </a:pPr>
            <a:r>
              <a:rPr lang="en-US" sz="12603" b="1">
                <a:solidFill>
                  <a:srgbClr val="F88431"/>
                </a:solidFill>
                <a:latin typeface="Lato Heavy"/>
                <a:ea typeface="Lato Heavy"/>
                <a:cs typeface="Lato Heavy"/>
                <a:sym typeface="Lato Heavy"/>
              </a:rPr>
              <a:t>5–7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2002538" y="3468254"/>
            <a:ext cx="5590560" cy="4959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073"/>
              </a:lnSpc>
            </a:pPr>
            <a:r>
              <a:rPr lang="en-US" sz="3181" b="1">
                <a:solidFill>
                  <a:srgbClr val="063682"/>
                </a:solidFill>
                <a:latin typeface="Lato Bold"/>
                <a:ea typeface="Lato Bold"/>
                <a:cs typeface="Lato Bold"/>
                <a:sym typeface="Lato Bold"/>
              </a:rPr>
              <a:t>Chi phí thu hút so với giữ chân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5690212" y="2115381"/>
            <a:ext cx="1669243" cy="1312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030"/>
              </a:lnSpc>
            </a:pPr>
            <a:r>
              <a:rPr lang="en-US" sz="9466" b="1">
                <a:solidFill>
                  <a:srgbClr val="F88431"/>
                </a:solidFill>
                <a:latin typeface="Lato Heavy"/>
                <a:ea typeface="Lato Heavy"/>
                <a:cs typeface="Lato Heavy"/>
                <a:sym typeface="Lato Heavy"/>
              </a:rPr>
              <a:t>lần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1904049" y="6938978"/>
            <a:ext cx="5333044" cy="15153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561"/>
              </a:lnSpc>
            </a:pPr>
            <a:r>
              <a:rPr lang="en-US" sz="10911" b="1">
                <a:solidFill>
                  <a:srgbClr val="F87519"/>
                </a:solidFill>
                <a:latin typeface="Lato Heavy"/>
                <a:ea typeface="Lato Heavy"/>
                <a:cs typeface="Lato Heavy"/>
                <a:sym typeface="Lato Heavy"/>
              </a:rPr>
              <a:t>25–95%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1821109" y="8468453"/>
            <a:ext cx="5498924" cy="4959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73"/>
              </a:lnSpc>
            </a:pPr>
            <a:r>
              <a:rPr lang="en-US" sz="3181" b="1">
                <a:solidFill>
                  <a:srgbClr val="063682"/>
                </a:solidFill>
                <a:latin typeface="Lato Bold"/>
                <a:ea typeface="Lato Bold"/>
                <a:cs typeface="Lato Bold"/>
                <a:sym typeface="Lato Bold"/>
              </a:rPr>
              <a:t>Mức tăng lợi nhuận tiềm năng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0" y="7707051"/>
            <a:ext cx="3051646" cy="2579949"/>
          </a:xfrm>
          <a:custGeom>
            <a:avLst/>
            <a:gdLst/>
            <a:ahLst/>
            <a:cxnLst/>
            <a:rect l="l" t="t" r="r" b="b"/>
            <a:pathLst>
              <a:path w="3051646" h="2579949">
                <a:moveTo>
                  <a:pt x="0" y="0"/>
                </a:moveTo>
                <a:lnTo>
                  <a:pt x="3051646" y="0"/>
                </a:lnTo>
                <a:lnTo>
                  <a:pt x="3051646" y="2579949"/>
                </a:lnTo>
                <a:lnTo>
                  <a:pt x="0" y="2579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739110" y="8778386"/>
            <a:ext cx="2832890" cy="1508614"/>
          </a:xfrm>
          <a:custGeom>
            <a:avLst/>
            <a:gdLst/>
            <a:ahLst/>
            <a:cxnLst/>
            <a:rect l="l" t="t" r="r" b="b"/>
            <a:pathLst>
              <a:path w="2832890" h="1508614">
                <a:moveTo>
                  <a:pt x="0" y="0"/>
                </a:moveTo>
                <a:lnTo>
                  <a:pt x="2832890" y="0"/>
                </a:lnTo>
                <a:lnTo>
                  <a:pt x="2832890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3923818" y="0"/>
            <a:ext cx="4364182" cy="1934962"/>
          </a:xfrm>
          <a:custGeom>
            <a:avLst/>
            <a:gdLst/>
            <a:ahLst/>
            <a:cxnLst/>
            <a:rect l="l" t="t" r="r" b="b"/>
            <a:pathLst>
              <a:path w="4364182" h="1934962">
                <a:moveTo>
                  <a:pt x="0" y="0"/>
                </a:moveTo>
                <a:lnTo>
                  <a:pt x="4364182" y="0"/>
                </a:lnTo>
                <a:lnTo>
                  <a:pt x="4364182" y="1934962"/>
                </a:lnTo>
                <a:lnTo>
                  <a:pt x="0" y="193496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6319196" y="0"/>
            <a:ext cx="1968804" cy="1934962"/>
          </a:xfrm>
          <a:custGeom>
            <a:avLst/>
            <a:gdLst/>
            <a:ahLst/>
            <a:cxnLst/>
            <a:rect l="l" t="t" r="r" b="b"/>
            <a:pathLst>
              <a:path w="1968804" h="1934962">
                <a:moveTo>
                  <a:pt x="0" y="0"/>
                </a:moveTo>
                <a:lnTo>
                  <a:pt x="1968804" y="0"/>
                </a:lnTo>
                <a:lnTo>
                  <a:pt x="1968804" y="1934962"/>
                </a:lnTo>
                <a:lnTo>
                  <a:pt x="0" y="193496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6100440" y="1279043"/>
            <a:ext cx="885962" cy="1082267"/>
          </a:xfrm>
          <a:custGeom>
            <a:avLst/>
            <a:gdLst/>
            <a:ahLst/>
            <a:cxnLst/>
            <a:rect l="l" t="t" r="r" b="b"/>
            <a:pathLst>
              <a:path w="885962" h="1082267">
                <a:moveTo>
                  <a:pt x="0" y="0"/>
                </a:moveTo>
                <a:lnTo>
                  <a:pt x="885962" y="0"/>
                </a:lnTo>
                <a:lnTo>
                  <a:pt x="885962" y="1082266"/>
                </a:lnTo>
                <a:lnTo>
                  <a:pt x="0" y="108226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946294" y="1511636"/>
            <a:ext cx="12526849" cy="849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571"/>
              </a:lnSpc>
            </a:pPr>
            <a:r>
              <a:rPr lang="en-US" sz="5976" b="1">
                <a:solidFill>
                  <a:srgbClr val="063884"/>
                </a:solidFill>
                <a:latin typeface="Lato Bold"/>
                <a:ea typeface="Lato Bold"/>
                <a:cs typeface="Lato Bold"/>
                <a:sym typeface="Lato Bold"/>
              </a:rPr>
              <a:t>Nghiên cứu hướng tới ba đóng góp</a:t>
            </a:r>
          </a:p>
        </p:txBody>
      </p:sp>
      <p:sp>
        <p:nvSpPr>
          <p:cNvPr id="9" name="Freeform 9"/>
          <p:cNvSpPr/>
          <p:nvPr/>
        </p:nvSpPr>
        <p:spPr>
          <a:xfrm>
            <a:off x="2176622" y="2995365"/>
            <a:ext cx="2187560" cy="2153601"/>
          </a:xfrm>
          <a:custGeom>
            <a:avLst/>
            <a:gdLst/>
            <a:ahLst/>
            <a:cxnLst/>
            <a:rect l="l" t="t" r="r" b="b"/>
            <a:pathLst>
              <a:path w="2187560" h="2153601">
                <a:moveTo>
                  <a:pt x="0" y="0"/>
                </a:moveTo>
                <a:lnTo>
                  <a:pt x="2187560" y="0"/>
                </a:lnTo>
                <a:lnTo>
                  <a:pt x="2187560" y="2153601"/>
                </a:lnTo>
                <a:lnTo>
                  <a:pt x="0" y="215360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2782762" y="3592487"/>
            <a:ext cx="910463" cy="8496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571"/>
              </a:lnSpc>
            </a:pPr>
            <a:r>
              <a:rPr lang="en-US" sz="5976" b="1">
                <a:solidFill>
                  <a:srgbClr val="1763CD"/>
                </a:solidFill>
                <a:latin typeface="Lato Bold"/>
                <a:ea typeface="Lato Bold"/>
                <a:cs typeface="Lato Bold"/>
                <a:sym typeface="Lato Bold"/>
              </a:rPr>
              <a:t>01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030223" y="5176825"/>
            <a:ext cx="4133986" cy="6253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79"/>
              </a:lnSpc>
            </a:pPr>
            <a:r>
              <a:rPr lang="en-US" sz="4437" b="1">
                <a:solidFill>
                  <a:srgbClr val="063884"/>
                </a:solidFill>
                <a:latin typeface="Lato Bold"/>
                <a:ea typeface="Lato Bold"/>
                <a:cs typeface="Lato Bold"/>
                <a:sym typeface="Lato Bold"/>
              </a:rPr>
              <a:t>Pipeline dữ liệu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23362" y="5979061"/>
            <a:ext cx="4820045" cy="14745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95"/>
              </a:lnSpc>
            </a:pPr>
            <a:r>
              <a:rPr lang="en-US" sz="2853">
                <a:solidFill>
                  <a:srgbClr val="063884"/>
                </a:solidFill>
                <a:latin typeface="Lato"/>
                <a:ea typeface="Lato"/>
                <a:cs typeface="Lato"/>
                <a:sym typeface="Lato"/>
              </a:rPr>
              <a:t>Tự động làm sạch và hợp nhất</a:t>
            </a:r>
          </a:p>
          <a:p>
            <a:pPr algn="l">
              <a:lnSpc>
                <a:spcPts val="3995"/>
              </a:lnSpc>
            </a:pPr>
            <a:r>
              <a:rPr lang="en-US" sz="2853">
                <a:solidFill>
                  <a:srgbClr val="063884"/>
                </a:solidFill>
                <a:latin typeface="Lato"/>
                <a:ea typeface="Lato"/>
                <a:cs typeface="Lato"/>
                <a:sym typeface="Lato"/>
              </a:rPr>
              <a:t>9 bảng Olist về cấp khách</a:t>
            </a:r>
          </a:p>
          <a:p>
            <a:pPr algn="l">
              <a:lnSpc>
                <a:spcPts val="3995"/>
              </a:lnSpc>
            </a:pPr>
            <a:r>
              <a:rPr lang="en-US" sz="2853">
                <a:solidFill>
                  <a:srgbClr val="063884"/>
                </a:solidFill>
                <a:latin typeface="Lato"/>
                <a:ea typeface="Lato"/>
                <a:cs typeface="Lato"/>
                <a:sym typeface="Lato"/>
              </a:rPr>
              <a:t>hàng thực tế.</a:t>
            </a:r>
          </a:p>
        </p:txBody>
      </p:sp>
      <p:sp>
        <p:nvSpPr>
          <p:cNvPr id="13" name="Freeform 13"/>
          <p:cNvSpPr/>
          <p:nvPr/>
        </p:nvSpPr>
        <p:spPr>
          <a:xfrm>
            <a:off x="8050220" y="2995365"/>
            <a:ext cx="2187560" cy="2153601"/>
          </a:xfrm>
          <a:custGeom>
            <a:avLst/>
            <a:gdLst/>
            <a:ahLst/>
            <a:cxnLst/>
            <a:rect l="l" t="t" r="r" b="b"/>
            <a:pathLst>
              <a:path w="2187560" h="2153601">
                <a:moveTo>
                  <a:pt x="0" y="0"/>
                </a:moveTo>
                <a:lnTo>
                  <a:pt x="2187560" y="0"/>
                </a:lnTo>
                <a:lnTo>
                  <a:pt x="2187560" y="2153601"/>
                </a:lnTo>
                <a:lnTo>
                  <a:pt x="0" y="215360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8546222" y="3485792"/>
            <a:ext cx="1063574" cy="10344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753"/>
              </a:lnSpc>
            </a:pPr>
            <a:r>
              <a:rPr lang="en-US" sz="6626" b="1">
                <a:solidFill>
                  <a:srgbClr val="F27416"/>
                </a:solidFill>
                <a:latin typeface="Lato Bold"/>
                <a:ea typeface="Lato Bold"/>
                <a:cs typeface="Lato Bold"/>
                <a:sym typeface="Lato Bold"/>
              </a:rPr>
              <a:t>02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836573" y="5176535"/>
            <a:ext cx="4821640" cy="6060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79"/>
              </a:lnSpc>
            </a:pPr>
            <a:r>
              <a:rPr lang="en-US" sz="4437" b="1">
                <a:solidFill>
                  <a:srgbClr val="063884"/>
                </a:solidFill>
                <a:latin typeface="Lato Bold"/>
                <a:ea typeface="Lato Bold"/>
                <a:cs typeface="Lato Bold"/>
                <a:sym typeface="Lato Bold"/>
              </a:rPr>
              <a:t>Phân cụm tích hợp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838597" y="5985751"/>
            <a:ext cx="4619194" cy="14414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21"/>
              </a:lnSpc>
            </a:pPr>
            <a:r>
              <a:rPr lang="en-US" sz="2801">
                <a:solidFill>
                  <a:srgbClr val="063884"/>
                </a:solidFill>
                <a:latin typeface="Lato"/>
                <a:ea typeface="Lato"/>
                <a:cs typeface="Lato"/>
                <a:sym typeface="Lato"/>
              </a:rPr>
              <a:t>Kết hợp RFM với vận chuyển</a:t>
            </a:r>
          </a:p>
          <a:p>
            <a:pPr algn="l">
              <a:lnSpc>
                <a:spcPts val="3921"/>
              </a:lnSpc>
            </a:pPr>
            <a:r>
              <a:rPr lang="en-US" sz="2801">
                <a:solidFill>
                  <a:srgbClr val="063884"/>
                </a:solidFill>
                <a:latin typeface="Lato"/>
                <a:ea typeface="Lato"/>
                <a:cs typeface="Lato"/>
                <a:sym typeface="Lato"/>
              </a:rPr>
              <a:t>và trải nghiệm để xử lý</a:t>
            </a:r>
          </a:p>
          <a:p>
            <a:pPr algn="l">
              <a:lnSpc>
                <a:spcPts val="3921"/>
              </a:lnSpc>
            </a:pPr>
            <a:r>
              <a:rPr lang="en-US" sz="2801">
                <a:solidFill>
                  <a:srgbClr val="063884"/>
                </a:solidFill>
                <a:latin typeface="Lato"/>
                <a:ea typeface="Lato"/>
                <a:cs typeface="Lato"/>
                <a:sym typeface="Lato"/>
              </a:rPr>
              <a:t>giới hạn của Frequency.</a:t>
            </a:r>
          </a:p>
        </p:txBody>
      </p:sp>
      <p:sp>
        <p:nvSpPr>
          <p:cNvPr id="17" name="Freeform 17"/>
          <p:cNvSpPr/>
          <p:nvPr/>
        </p:nvSpPr>
        <p:spPr>
          <a:xfrm>
            <a:off x="13923818" y="2995365"/>
            <a:ext cx="2187560" cy="2153601"/>
          </a:xfrm>
          <a:custGeom>
            <a:avLst/>
            <a:gdLst/>
            <a:ahLst/>
            <a:cxnLst/>
            <a:rect l="l" t="t" r="r" b="b"/>
            <a:pathLst>
              <a:path w="2187560" h="2153601">
                <a:moveTo>
                  <a:pt x="0" y="0"/>
                </a:moveTo>
                <a:lnTo>
                  <a:pt x="2187560" y="0"/>
                </a:lnTo>
                <a:lnTo>
                  <a:pt x="2187560" y="2153601"/>
                </a:lnTo>
                <a:lnTo>
                  <a:pt x="0" y="2153601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14463415" y="3485792"/>
            <a:ext cx="1069954" cy="10344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753"/>
              </a:lnSpc>
            </a:pPr>
            <a:r>
              <a:rPr lang="en-US" sz="6626" b="1">
                <a:solidFill>
                  <a:srgbClr val="1763CD"/>
                </a:solidFill>
                <a:latin typeface="Lato Bold"/>
                <a:ea typeface="Lato Bold"/>
                <a:cs typeface="Lato Bold"/>
                <a:sym typeface="Lato Bold"/>
              </a:rPr>
              <a:t>03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2756959" y="5176544"/>
            <a:ext cx="4821255" cy="6252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79"/>
              </a:lnSpc>
            </a:pPr>
            <a:r>
              <a:rPr lang="en-US" sz="4437" b="1">
                <a:solidFill>
                  <a:srgbClr val="063884"/>
                </a:solidFill>
                <a:latin typeface="Lato Bold"/>
                <a:ea typeface="Lato Bold"/>
                <a:cs typeface="Lato Bold"/>
                <a:sym typeface="Lato Bold"/>
              </a:rPr>
              <a:t>Hành động khả thi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756972" y="5986464"/>
            <a:ext cx="4819973" cy="14416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06"/>
              </a:lnSpc>
            </a:pPr>
            <a:r>
              <a:rPr lang="en-US" sz="2790">
                <a:solidFill>
                  <a:srgbClr val="063884"/>
                </a:solidFill>
                <a:latin typeface="Lato"/>
                <a:ea typeface="Lato"/>
                <a:cs typeface="Lato"/>
                <a:sym typeface="Lato"/>
              </a:rPr>
              <a:t>Kết nối phân khúc với cải thiện vận hành, tiếp thị giữ chân</a:t>
            </a:r>
          </a:p>
          <a:p>
            <a:pPr algn="l">
              <a:lnSpc>
                <a:spcPts val="3906"/>
              </a:lnSpc>
            </a:pPr>
            <a:r>
              <a:rPr lang="en-US" sz="2790">
                <a:solidFill>
                  <a:srgbClr val="063884"/>
                </a:solidFill>
                <a:latin typeface="Lato"/>
                <a:ea typeface="Lato"/>
                <a:cs typeface="Lato"/>
                <a:sym typeface="Lato"/>
              </a:rPr>
              <a:t>và thử nghiệm A/B.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0" y="7707051"/>
            <a:ext cx="3926670" cy="2579949"/>
          </a:xfrm>
          <a:custGeom>
            <a:avLst/>
            <a:gdLst/>
            <a:ahLst/>
            <a:cxnLst/>
            <a:rect l="l" t="t" r="r" b="b"/>
            <a:pathLst>
              <a:path w="3926670" h="2579949">
                <a:moveTo>
                  <a:pt x="0" y="0"/>
                </a:moveTo>
                <a:lnTo>
                  <a:pt x="3926670" y="0"/>
                </a:lnTo>
                <a:lnTo>
                  <a:pt x="3926670" y="2579949"/>
                </a:lnTo>
                <a:lnTo>
                  <a:pt x="0" y="2579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0" y="8997026"/>
            <a:ext cx="2395378" cy="1289974"/>
          </a:xfrm>
          <a:custGeom>
            <a:avLst/>
            <a:gdLst/>
            <a:ahLst/>
            <a:cxnLst/>
            <a:rect l="l" t="t" r="r" b="b"/>
            <a:pathLst>
              <a:path w="2395378" h="1289974">
                <a:moveTo>
                  <a:pt x="0" y="0"/>
                </a:moveTo>
                <a:lnTo>
                  <a:pt x="2395378" y="0"/>
                </a:lnTo>
                <a:lnTo>
                  <a:pt x="2395378" y="1289974"/>
                </a:lnTo>
                <a:lnTo>
                  <a:pt x="0" y="128997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3497244" y="0"/>
            <a:ext cx="4790756" cy="4077631"/>
          </a:xfrm>
          <a:custGeom>
            <a:avLst/>
            <a:gdLst/>
            <a:ahLst/>
            <a:cxnLst/>
            <a:rect l="l" t="t" r="r" b="b"/>
            <a:pathLst>
              <a:path w="4790756" h="4077631">
                <a:moveTo>
                  <a:pt x="0" y="0"/>
                </a:moveTo>
                <a:lnTo>
                  <a:pt x="4790756" y="0"/>
                </a:lnTo>
                <a:lnTo>
                  <a:pt x="4790756" y="4077631"/>
                </a:lnTo>
                <a:lnTo>
                  <a:pt x="0" y="407763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6100440" y="1279043"/>
            <a:ext cx="2187560" cy="4941258"/>
          </a:xfrm>
          <a:custGeom>
            <a:avLst/>
            <a:gdLst/>
            <a:ahLst/>
            <a:cxnLst/>
            <a:rect l="l" t="t" r="r" b="b"/>
            <a:pathLst>
              <a:path w="2187560" h="4941258">
                <a:moveTo>
                  <a:pt x="0" y="0"/>
                </a:moveTo>
                <a:lnTo>
                  <a:pt x="2187560" y="0"/>
                </a:lnTo>
                <a:lnTo>
                  <a:pt x="2187560" y="4941258"/>
                </a:lnTo>
                <a:lnTo>
                  <a:pt x="0" y="494125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082842" y="5990729"/>
            <a:ext cx="4801694" cy="2372241"/>
          </a:xfrm>
          <a:custGeom>
            <a:avLst/>
            <a:gdLst/>
            <a:ahLst/>
            <a:cxnLst/>
            <a:rect l="l" t="t" r="r" b="b"/>
            <a:pathLst>
              <a:path w="4801694" h="2372241">
                <a:moveTo>
                  <a:pt x="0" y="0"/>
                </a:moveTo>
                <a:lnTo>
                  <a:pt x="4801694" y="0"/>
                </a:lnTo>
                <a:lnTo>
                  <a:pt x="4801694" y="2372241"/>
                </a:lnTo>
                <a:lnTo>
                  <a:pt x="0" y="237224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5217330" y="5990729"/>
            <a:ext cx="4582938" cy="2372241"/>
          </a:xfrm>
          <a:custGeom>
            <a:avLst/>
            <a:gdLst/>
            <a:ahLst/>
            <a:cxnLst/>
            <a:rect l="l" t="t" r="r" b="b"/>
            <a:pathLst>
              <a:path w="4582938" h="2372241">
                <a:moveTo>
                  <a:pt x="0" y="0"/>
                </a:moveTo>
                <a:lnTo>
                  <a:pt x="4582938" y="0"/>
                </a:lnTo>
                <a:lnTo>
                  <a:pt x="4582938" y="2372241"/>
                </a:lnTo>
                <a:lnTo>
                  <a:pt x="0" y="237224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9144000" y="5990729"/>
            <a:ext cx="4572000" cy="2372241"/>
          </a:xfrm>
          <a:custGeom>
            <a:avLst/>
            <a:gdLst/>
            <a:ahLst/>
            <a:cxnLst/>
            <a:rect l="l" t="t" r="r" b="b"/>
            <a:pathLst>
              <a:path w="4572000" h="2372241">
                <a:moveTo>
                  <a:pt x="0" y="0"/>
                </a:moveTo>
                <a:lnTo>
                  <a:pt x="4572000" y="0"/>
                </a:lnTo>
                <a:lnTo>
                  <a:pt x="4572000" y="2372241"/>
                </a:lnTo>
                <a:lnTo>
                  <a:pt x="0" y="237224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2840976" y="5990729"/>
            <a:ext cx="4801694" cy="2372241"/>
          </a:xfrm>
          <a:custGeom>
            <a:avLst/>
            <a:gdLst/>
            <a:ahLst/>
            <a:cxnLst/>
            <a:rect l="l" t="t" r="r" b="b"/>
            <a:pathLst>
              <a:path w="4801694" h="2372241">
                <a:moveTo>
                  <a:pt x="0" y="0"/>
                </a:moveTo>
                <a:lnTo>
                  <a:pt x="4801694" y="0"/>
                </a:lnTo>
                <a:lnTo>
                  <a:pt x="4801694" y="2372241"/>
                </a:lnTo>
                <a:lnTo>
                  <a:pt x="0" y="2372241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964204" y="989919"/>
            <a:ext cx="10735842" cy="23326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88"/>
              </a:lnSpc>
            </a:pPr>
            <a:r>
              <a:rPr lang="en-US" sz="7987" b="1" spc="-159">
                <a:solidFill>
                  <a:srgbClr val="06388B"/>
                </a:solidFill>
                <a:latin typeface="Lato Bold"/>
                <a:ea typeface="Lato Bold"/>
                <a:cs typeface="Lato Bold"/>
                <a:sym typeface="Lato Bold"/>
              </a:rPr>
              <a:t>Từ dữ liệu giao dịch</a:t>
            </a:r>
          </a:p>
          <a:p>
            <a:pPr algn="l">
              <a:lnSpc>
                <a:spcPts val="9188"/>
              </a:lnSpc>
            </a:pPr>
            <a:r>
              <a:rPr lang="en-US" sz="7987" b="1" spc="-159">
                <a:solidFill>
                  <a:srgbClr val="06388B"/>
                </a:solidFill>
                <a:latin typeface="Lato Bold"/>
                <a:ea typeface="Lato Bold"/>
                <a:cs typeface="Lato Bold"/>
                <a:sym typeface="Lato Bold"/>
              </a:rPr>
              <a:t>đến hồ sơ khách hàng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578878" y="3590287"/>
            <a:ext cx="14442663" cy="17708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36067" lvl="1" indent="-368033" algn="l">
              <a:lnSpc>
                <a:spcPts val="4603"/>
              </a:lnSpc>
              <a:buFont typeface="Arial"/>
              <a:buChar char="•"/>
            </a:pPr>
            <a:r>
              <a:rPr lang="en-US" sz="3410" b="1" spc="-68">
                <a:solidFill>
                  <a:srgbClr val="06388B"/>
                </a:solidFill>
                <a:latin typeface="Lato Bold"/>
                <a:ea typeface="Lato Bold"/>
                <a:cs typeface="Lato Bold"/>
                <a:sym typeface="Lato Bold"/>
              </a:rPr>
              <a:t>Lọc đơn đã giao hợp lệ, thu được </a:t>
            </a:r>
            <a:r>
              <a:rPr lang="en-US" sz="3410" b="1" spc="-68">
                <a:solidFill>
                  <a:srgbClr val="FA8A33"/>
                </a:solidFill>
                <a:latin typeface="Lato Heavy"/>
                <a:ea typeface="Lato Heavy"/>
                <a:cs typeface="Lato Heavy"/>
                <a:sym typeface="Lato Heavy"/>
              </a:rPr>
              <a:t>96.470 </a:t>
            </a:r>
            <a:r>
              <a:rPr lang="en-US" sz="3410" b="1" spc="-68">
                <a:solidFill>
                  <a:srgbClr val="06388B"/>
                </a:solidFill>
                <a:latin typeface="Lato Bold"/>
                <a:ea typeface="Lato Bold"/>
                <a:cs typeface="Lato Bold"/>
                <a:sym typeface="Lato Bold"/>
              </a:rPr>
              <a:t>đơn chuẩn.</a:t>
            </a:r>
          </a:p>
          <a:p>
            <a:pPr marL="736067" lvl="1" indent="-368033" algn="l">
              <a:lnSpc>
                <a:spcPts val="4603"/>
              </a:lnSpc>
              <a:buFont typeface="Arial"/>
              <a:buChar char="•"/>
            </a:pPr>
            <a:r>
              <a:rPr lang="en-US" sz="3410" b="1" spc="-68">
                <a:solidFill>
                  <a:srgbClr val="06388B"/>
                </a:solidFill>
                <a:latin typeface="Lato Bold"/>
                <a:ea typeface="Lato Bold"/>
                <a:cs typeface="Lato Bold"/>
                <a:sym typeface="Lato Bold"/>
              </a:rPr>
              <a:t>Tổng hợp mặt hàng và thanh toán ở cấp đơn hàng trước khi kết nối dữ liệu.</a:t>
            </a:r>
          </a:p>
          <a:p>
            <a:pPr marL="736067" lvl="1" indent="-368033" algn="l">
              <a:lnSpc>
                <a:spcPts val="4603"/>
              </a:lnSpc>
              <a:buFont typeface="Arial"/>
              <a:buChar char="•"/>
            </a:pPr>
            <a:r>
              <a:rPr lang="en-US" sz="3410" b="1" spc="-68">
                <a:solidFill>
                  <a:srgbClr val="06388B"/>
                </a:solidFill>
                <a:latin typeface="Lato Bold"/>
                <a:ea typeface="Lato Bold"/>
                <a:cs typeface="Lato Bold"/>
                <a:sym typeface="Lato Bold"/>
              </a:rPr>
              <a:t>Gộp </a:t>
            </a:r>
            <a:r>
              <a:rPr lang="en-US" sz="3410" b="1" spc="-68">
                <a:solidFill>
                  <a:srgbClr val="FA8A33"/>
                </a:solidFill>
                <a:latin typeface="Lato Heavy"/>
                <a:ea typeface="Lato Heavy"/>
                <a:cs typeface="Lato Heavy"/>
                <a:sym typeface="Lato Heavy"/>
              </a:rPr>
              <a:t>96.470 </a:t>
            </a:r>
            <a:r>
              <a:rPr lang="en-US" sz="3410" b="1" spc="-68">
                <a:solidFill>
                  <a:srgbClr val="06388B"/>
                </a:solidFill>
                <a:latin typeface="Lato Bold"/>
                <a:ea typeface="Lato Bold"/>
                <a:cs typeface="Lato Bold"/>
                <a:sym typeface="Lato Bold"/>
              </a:rPr>
              <a:t>giao dịch thành </a:t>
            </a:r>
            <a:r>
              <a:rPr lang="en-US" sz="3410" b="1" spc="-68">
                <a:solidFill>
                  <a:srgbClr val="FA8A33"/>
                </a:solidFill>
                <a:latin typeface="Lato Heavy"/>
                <a:ea typeface="Lato Heavy"/>
                <a:cs typeface="Lato Heavy"/>
                <a:sym typeface="Lato Heavy"/>
              </a:rPr>
              <a:t>93.350 </a:t>
            </a:r>
            <a:r>
              <a:rPr lang="en-US" sz="3410" b="1" spc="-68">
                <a:solidFill>
                  <a:srgbClr val="06388B"/>
                </a:solidFill>
                <a:latin typeface="Lato Bold"/>
                <a:ea typeface="Lato Bold"/>
                <a:cs typeface="Lato Bold"/>
                <a:sym typeface="Lato Bold"/>
              </a:rPr>
              <a:t>khách hàng với </a:t>
            </a:r>
            <a:r>
              <a:rPr lang="en-US" sz="3410" b="1" spc="-68">
                <a:solidFill>
                  <a:srgbClr val="FA8A33"/>
                </a:solidFill>
                <a:latin typeface="Lato Heavy"/>
                <a:ea typeface="Lato Heavy"/>
                <a:cs typeface="Lato Heavy"/>
                <a:sym typeface="Lato Heavy"/>
              </a:rPr>
              <a:t>29 </a:t>
            </a:r>
            <a:r>
              <a:rPr lang="en-US" sz="3410" b="1" spc="-68">
                <a:solidFill>
                  <a:srgbClr val="06388B"/>
                </a:solidFill>
                <a:latin typeface="Lato Bold"/>
                <a:ea typeface="Lato Bold"/>
                <a:cs typeface="Lato Bold"/>
                <a:sym typeface="Lato Bold"/>
              </a:rPr>
              <a:t>đặc trưng.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722406" y="6798003"/>
            <a:ext cx="3258347" cy="5635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03"/>
              </a:lnSpc>
            </a:pPr>
            <a:r>
              <a:rPr lang="en-US" sz="3410" b="1" spc="-68">
                <a:solidFill>
                  <a:srgbClr val="06388B"/>
                </a:solidFill>
                <a:latin typeface="Lato Bold"/>
                <a:ea typeface="Lato Bold"/>
                <a:cs typeface="Lato Bold"/>
                <a:sym typeface="Lato Bold"/>
              </a:rPr>
              <a:t>9 bảng quan hệ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572902" y="6798003"/>
            <a:ext cx="1867324" cy="5635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03"/>
              </a:lnSpc>
            </a:pPr>
            <a:r>
              <a:rPr lang="en-US" sz="3410" b="1" spc="-68">
                <a:solidFill>
                  <a:srgbClr val="06388B"/>
                </a:solidFill>
                <a:latin typeface="Lato Bold"/>
                <a:ea typeface="Lato Bold"/>
                <a:cs typeface="Lato Bold"/>
                <a:sym typeface="Lato Bold"/>
              </a:rPr>
              <a:t>làm sạch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0485529" y="6511845"/>
            <a:ext cx="1821612" cy="1101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03"/>
              </a:lnSpc>
            </a:pPr>
            <a:r>
              <a:rPr lang="en-US" sz="3410" b="1" spc="-68">
                <a:solidFill>
                  <a:srgbClr val="FAFAFA"/>
                </a:solidFill>
                <a:latin typeface="Lato Bold"/>
                <a:ea typeface="Lato Bold"/>
                <a:cs typeface="Lato Bold"/>
                <a:sym typeface="Lato Bold"/>
              </a:rPr>
              <a:t>tổng hợp</a:t>
            </a:r>
          </a:p>
          <a:p>
            <a:pPr algn="ctr">
              <a:lnSpc>
                <a:spcPts val="4603"/>
              </a:lnSpc>
            </a:pPr>
            <a:r>
              <a:rPr lang="en-US" sz="3410" b="1" spc="-68">
                <a:solidFill>
                  <a:srgbClr val="FAFAFA"/>
                </a:solidFill>
                <a:latin typeface="Lato Bold"/>
                <a:ea typeface="Lato Bold"/>
                <a:cs typeface="Lato Bold"/>
                <a:sym typeface="Lato Bold"/>
              </a:rPr>
              <a:t>cấp đơn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4035422" y="6511845"/>
            <a:ext cx="2380284" cy="1101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03"/>
              </a:lnSpc>
            </a:pPr>
            <a:r>
              <a:rPr lang="en-US" sz="3410" b="1" spc="-68">
                <a:solidFill>
                  <a:srgbClr val="FAFAFA"/>
                </a:solidFill>
                <a:latin typeface="Lato Bold"/>
                <a:ea typeface="Lato Bold"/>
                <a:cs typeface="Lato Bold"/>
                <a:sym typeface="Lato Bold"/>
              </a:rPr>
              <a:t>hồ sơ</a:t>
            </a:r>
          </a:p>
          <a:p>
            <a:pPr algn="ctr">
              <a:lnSpc>
                <a:spcPts val="4603"/>
              </a:lnSpc>
            </a:pPr>
            <a:r>
              <a:rPr lang="en-US" sz="3410" b="1" spc="-68">
                <a:solidFill>
                  <a:srgbClr val="FAFAFA"/>
                </a:solidFill>
                <a:latin typeface="Lato Bold"/>
                <a:ea typeface="Lato Bold"/>
                <a:cs typeface="Lato Bold"/>
                <a:sym typeface="Lato Bold"/>
              </a:rPr>
              <a:t>khách hàng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0" y="0"/>
            <a:ext cx="13070670" cy="10287000"/>
          </a:xfrm>
          <a:custGeom>
            <a:avLst/>
            <a:gdLst/>
            <a:ahLst/>
            <a:cxnLst/>
            <a:rect l="l" t="t" r="r" b="b"/>
            <a:pathLst>
              <a:path w="13070670" h="10287000">
                <a:moveTo>
                  <a:pt x="0" y="0"/>
                </a:moveTo>
                <a:lnTo>
                  <a:pt x="13070670" y="0"/>
                </a:lnTo>
                <a:lnTo>
                  <a:pt x="1307067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0" y="8352038"/>
            <a:ext cx="3707914" cy="1934962"/>
          </a:xfrm>
          <a:custGeom>
            <a:avLst/>
            <a:gdLst/>
            <a:ahLst/>
            <a:cxnLst/>
            <a:rect l="l" t="t" r="r" b="b"/>
            <a:pathLst>
              <a:path w="3707914" h="1934962">
                <a:moveTo>
                  <a:pt x="0" y="0"/>
                </a:moveTo>
                <a:lnTo>
                  <a:pt x="3707914" y="0"/>
                </a:lnTo>
                <a:lnTo>
                  <a:pt x="3707914" y="1934962"/>
                </a:lnTo>
                <a:lnTo>
                  <a:pt x="0" y="193496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1747196" y="1705390"/>
            <a:ext cx="6540804" cy="6657580"/>
          </a:xfrm>
          <a:custGeom>
            <a:avLst/>
            <a:gdLst/>
            <a:ahLst/>
            <a:cxnLst/>
            <a:rect l="l" t="t" r="r" b="b"/>
            <a:pathLst>
              <a:path w="6540804" h="6657580">
                <a:moveTo>
                  <a:pt x="0" y="0"/>
                </a:moveTo>
                <a:lnTo>
                  <a:pt x="6540804" y="0"/>
                </a:lnTo>
                <a:lnTo>
                  <a:pt x="6540804" y="6657580"/>
                </a:lnTo>
                <a:lnTo>
                  <a:pt x="0" y="665758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994842" y="809870"/>
            <a:ext cx="10350968" cy="2145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33"/>
              </a:lnSpc>
            </a:pPr>
            <a:r>
              <a:rPr lang="en-US" sz="8033" b="1" spc="-160">
                <a:solidFill>
                  <a:srgbClr val="06328D"/>
                </a:solidFill>
                <a:latin typeface="Lato Bold"/>
                <a:ea typeface="Lato Bold"/>
                <a:cs typeface="Lato Bold"/>
                <a:sym typeface="Lato Bold"/>
              </a:rPr>
              <a:t>Giao hàng trễ làm</a:t>
            </a:r>
          </a:p>
          <a:p>
            <a:pPr algn="l">
              <a:lnSpc>
                <a:spcPts val="8433"/>
              </a:lnSpc>
            </a:pPr>
            <a:r>
              <a:rPr lang="en-US" sz="8033" b="1" spc="-160">
                <a:solidFill>
                  <a:srgbClr val="08459D"/>
                </a:solidFill>
                <a:latin typeface="Lato Bold"/>
                <a:ea typeface="Lato Bold"/>
                <a:cs typeface="Lato Bold"/>
                <a:sym typeface="Lato Bold"/>
              </a:rPr>
              <a:t>suy giảm trải nghiệm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72379" y="3279144"/>
            <a:ext cx="2597210" cy="1367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449"/>
              </a:lnSpc>
            </a:pPr>
            <a:r>
              <a:rPr lang="en-US" sz="9954" b="1" spc="-199">
                <a:solidFill>
                  <a:srgbClr val="0857B2"/>
                </a:solidFill>
                <a:latin typeface="Lato Bold"/>
                <a:ea typeface="Lato Bold"/>
                <a:cs typeface="Lato Bold"/>
                <a:sym typeface="Lato Bold"/>
              </a:rPr>
              <a:t>4,29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2312021" y="4674274"/>
            <a:ext cx="1862696" cy="444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89"/>
              </a:lnSpc>
            </a:pPr>
            <a:r>
              <a:rPr lang="en-US" sz="3323" b="1" spc="-66">
                <a:solidFill>
                  <a:srgbClr val="062684"/>
                </a:solidFill>
                <a:latin typeface="Lato Bold"/>
                <a:ea typeface="Lato Bold"/>
                <a:cs typeface="Lato Bold"/>
                <a:sym typeface="Lato Bold"/>
              </a:rPr>
              <a:t>đúng hạn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978198" y="3718148"/>
            <a:ext cx="1337182" cy="8553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606"/>
              </a:lnSpc>
            </a:pPr>
            <a:r>
              <a:rPr lang="en-US" sz="6292" b="1" spc="-125">
                <a:solidFill>
                  <a:srgbClr val="0857B2"/>
                </a:solidFill>
                <a:latin typeface="Lato Bold"/>
                <a:ea typeface="Lato Bold"/>
                <a:cs typeface="Lato Bold"/>
                <a:sym typeface="Lato Bold"/>
              </a:rPr>
              <a:t>sao</a:t>
            </a:r>
          </a:p>
        </p:txBody>
      </p:sp>
      <p:sp>
        <p:nvSpPr>
          <p:cNvPr id="10" name="Freeform 10"/>
          <p:cNvSpPr/>
          <p:nvPr/>
        </p:nvSpPr>
        <p:spPr>
          <a:xfrm>
            <a:off x="5873598" y="3640352"/>
            <a:ext cx="1093780" cy="863627"/>
          </a:xfrm>
          <a:custGeom>
            <a:avLst/>
            <a:gdLst/>
            <a:ahLst/>
            <a:cxnLst/>
            <a:rect l="l" t="t" r="r" b="b"/>
            <a:pathLst>
              <a:path w="1093780" h="863627">
                <a:moveTo>
                  <a:pt x="0" y="0"/>
                </a:moveTo>
                <a:lnTo>
                  <a:pt x="1093780" y="0"/>
                </a:lnTo>
                <a:lnTo>
                  <a:pt x="1093780" y="863627"/>
                </a:lnTo>
                <a:lnTo>
                  <a:pt x="0" y="86362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7448176" y="3279144"/>
            <a:ext cx="2597210" cy="1367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449"/>
              </a:lnSpc>
            </a:pPr>
            <a:r>
              <a:rPr lang="en-US" sz="9954" b="1" spc="-199">
                <a:solidFill>
                  <a:srgbClr val="F9781B"/>
                </a:solidFill>
                <a:latin typeface="Lato Bold"/>
                <a:ea typeface="Lato Bold"/>
                <a:cs typeface="Lato Bold"/>
                <a:sym typeface="Lato Bold"/>
              </a:rPr>
              <a:t>2,27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059316" y="3718148"/>
            <a:ext cx="1337182" cy="8553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606"/>
              </a:lnSpc>
            </a:pPr>
            <a:r>
              <a:rPr lang="en-US" sz="6292" b="1" spc="-125">
                <a:solidFill>
                  <a:srgbClr val="F9781B"/>
                </a:solidFill>
                <a:latin typeface="Lato Bold"/>
                <a:ea typeface="Lato Bold"/>
                <a:cs typeface="Lato Bold"/>
                <a:sym typeface="Lato Bold"/>
              </a:rPr>
              <a:t>sao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610961" y="4674274"/>
            <a:ext cx="1511663" cy="444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89"/>
              </a:lnSpc>
            </a:pPr>
            <a:r>
              <a:rPr lang="en-US" sz="3323" b="1" spc="-66">
                <a:solidFill>
                  <a:srgbClr val="062684"/>
                </a:solidFill>
                <a:latin typeface="Lato Bold"/>
                <a:ea typeface="Lato Bold"/>
                <a:cs typeface="Lato Bold"/>
                <a:sym typeface="Lato Bold"/>
              </a:rPr>
              <a:t>giao trễ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4135129" y="5274956"/>
            <a:ext cx="4396495" cy="7016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480"/>
              </a:lnSpc>
            </a:pPr>
            <a:r>
              <a:rPr lang="en-US" sz="5220" b="1" spc="-104">
                <a:solidFill>
                  <a:srgbClr val="F9781B"/>
                </a:solidFill>
                <a:latin typeface="Lato Bold"/>
                <a:ea typeface="Lato Bold"/>
                <a:cs typeface="Lato Bold"/>
                <a:sym typeface="Lato Bold"/>
              </a:rPr>
              <a:t>giảm 2,02 sao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56937" y="6369394"/>
            <a:ext cx="10031304" cy="9281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9693" lvl="1" indent="-324847" algn="l">
              <a:lnSpc>
                <a:spcPts val="3763"/>
              </a:lnSpc>
              <a:buFont typeface="Arial"/>
              <a:buChar char="•"/>
            </a:pPr>
            <a:r>
              <a:rPr lang="en-US" sz="3010" spc="-60">
                <a:solidFill>
                  <a:srgbClr val="062684"/>
                </a:solidFill>
                <a:latin typeface="Lato"/>
                <a:ea typeface="Lato"/>
                <a:cs typeface="Lato"/>
                <a:sym typeface="Lato"/>
              </a:rPr>
              <a:t>Đơn giao trễ chiếm 6,77%; kiểm định Mann–Whitney U cho thấy chênh lệch có ý nghĩa thống kê.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60364" y="7423653"/>
            <a:ext cx="9688587" cy="4640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9693" lvl="1" indent="-324847" algn="l">
              <a:lnSpc>
                <a:spcPts val="3763"/>
              </a:lnSpc>
              <a:buFont typeface="Arial"/>
              <a:buChar char="•"/>
            </a:pPr>
            <a:r>
              <a:rPr lang="en-US" sz="3010" spc="-60">
                <a:solidFill>
                  <a:srgbClr val="062684"/>
                </a:solidFill>
                <a:latin typeface="Lato"/>
                <a:ea typeface="Lato"/>
                <a:cs typeface="Lato"/>
                <a:sym typeface="Lato"/>
              </a:rPr>
              <a:t>Khi trễ 1–3 ngày, điểm trung bình giảm còn 3,29 sao.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63189" y="7995965"/>
            <a:ext cx="9406110" cy="4640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9693" lvl="1" indent="-324847" algn="l">
              <a:lnSpc>
                <a:spcPts val="3763"/>
              </a:lnSpc>
              <a:buFont typeface="Arial"/>
              <a:buChar char="•"/>
            </a:pPr>
            <a:r>
              <a:rPr lang="en-US" sz="3010" spc="-60">
                <a:solidFill>
                  <a:srgbClr val="062684"/>
                </a:solidFill>
                <a:latin typeface="Lato"/>
                <a:ea typeface="Lato"/>
                <a:cs typeface="Lato"/>
                <a:sym typeface="Lato"/>
              </a:rPr>
              <a:t>Khi trễ hơn 7 ngày, điểm trung bình chạm 1,70 sao.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3226038" y="3614258"/>
            <a:ext cx="3454770" cy="6186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79"/>
              </a:lnSpc>
            </a:pPr>
            <a:r>
              <a:rPr lang="en-US" sz="4552" b="1" spc="-91">
                <a:solidFill>
                  <a:srgbClr val="063284"/>
                </a:solidFill>
                <a:latin typeface="Lato Bold"/>
                <a:ea typeface="Lato Bold"/>
                <a:cs typeface="Lato Bold"/>
                <a:sym typeface="Lato Bold"/>
              </a:rPr>
              <a:t>Tỷ lệ giao trễ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2546576" y="4500682"/>
            <a:ext cx="4971753" cy="18727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4338"/>
              </a:lnSpc>
            </a:pPr>
            <a:r>
              <a:rPr lang="en-US" sz="13658" b="1" spc="-273">
                <a:solidFill>
                  <a:srgbClr val="F9781B"/>
                </a:solidFill>
                <a:latin typeface="Lato Bold"/>
                <a:ea typeface="Lato Bold"/>
                <a:cs typeface="Lato Bold"/>
                <a:sym typeface="Lato Bold"/>
              </a:rPr>
              <a:t>6,77%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0" y="7925691"/>
            <a:ext cx="3926670" cy="2361309"/>
          </a:xfrm>
          <a:custGeom>
            <a:avLst/>
            <a:gdLst/>
            <a:ahLst/>
            <a:cxnLst/>
            <a:rect l="l" t="t" r="r" b="b"/>
            <a:pathLst>
              <a:path w="3926670" h="2361309">
                <a:moveTo>
                  <a:pt x="0" y="0"/>
                </a:moveTo>
                <a:lnTo>
                  <a:pt x="3926670" y="0"/>
                </a:lnTo>
                <a:lnTo>
                  <a:pt x="3926670" y="2361309"/>
                </a:lnTo>
                <a:lnTo>
                  <a:pt x="0" y="236130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0883110" y="0"/>
            <a:ext cx="7404890" cy="10287000"/>
          </a:xfrm>
          <a:custGeom>
            <a:avLst/>
            <a:gdLst/>
            <a:ahLst/>
            <a:cxnLst/>
            <a:rect l="l" t="t" r="r" b="b"/>
            <a:pathLst>
              <a:path w="7404890" h="10287000">
                <a:moveTo>
                  <a:pt x="0" y="0"/>
                </a:moveTo>
                <a:lnTo>
                  <a:pt x="7404890" y="0"/>
                </a:lnTo>
                <a:lnTo>
                  <a:pt x="740489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5017598" y="0"/>
            <a:ext cx="3270402" cy="3006296"/>
          </a:xfrm>
          <a:custGeom>
            <a:avLst/>
            <a:gdLst/>
            <a:ahLst/>
            <a:cxnLst/>
            <a:rect l="l" t="t" r="r" b="b"/>
            <a:pathLst>
              <a:path w="3270402" h="3006296">
                <a:moveTo>
                  <a:pt x="0" y="0"/>
                </a:moveTo>
                <a:lnTo>
                  <a:pt x="3270402" y="0"/>
                </a:lnTo>
                <a:lnTo>
                  <a:pt x="3270402" y="3006296"/>
                </a:lnTo>
                <a:lnTo>
                  <a:pt x="0" y="300629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5017598" y="7925691"/>
            <a:ext cx="3270402" cy="2361309"/>
          </a:xfrm>
          <a:custGeom>
            <a:avLst/>
            <a:gdLst/>
            <a:ahLst/>
            <a:cxnLst/>
            <a:rect l="l" t="t" r="r" b="b"/>
            <a:pathLst>
              <a:path w="3270402" h="2361309">
                <a:moveTo>
                  <a:pt x="0" y="0"/>
                </a:moveTo>
                <a:lnTo>
                  <a:pt x="3270402" y="0"/>
                </a:lnTo>
                <a:lnTo>
                  <a:pt x="3270402" y="2361309"/>
                </a:lnTo>
                <a:lnTo>
                  <a:pt x="0" y="236130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951711" y="1386963"/>
            <a:ext cx="9306246" cy="18317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47"/>
              </a:lnSpc>
            </a:pPr>
            <a:r>
              <a:rPr lang="en-US" sz="6299" b="1">
                <a:solidFill>
                  <a:srgbClr val="063284"/>
                </a:solidFill>
                <a:latin typeface="Lato Bold"/>
                <a:ea typeface="Lato Bold"/>
                <a:cs typeface="Lato Bold"/>
                <a:sym typeface="Lato Bold"/>
              </a:rPr>
              <a:t>Đặc trưng hóa</a:t>
            </a:r>
          </a:p>
          <a:p>
            <a:pPr algn="l">
              <a:lnSpc>
                <a:spcPts val="7247"/>
              </a:lnSpc>
            </a:pPr>
            <a:r>
              <a:rPr lang="en-US" sz="6299" b="1">
                <a:solidFill>
                  <a:srgbClr val="063284"/>
                </a:solidFill>
                <a:latin typeface="Lato Bold"/>
                <a:ea typeface="Lato Bold"/>
                <a:cs typeface="Lato Bold"/>
                <a:sym typeface="Lato Bold"/>
              </a:rPr>
              <a:t>trải nghiệm khách hàng</a:t>
            </a:r>
          </a:p>
        </p:txBody>
      </p:sp>
      <p:sp>
        <p:nvSpPr>
          <p:cNvPr id="8" name="Freeform 8"/>
          <p:cNvSpPr/>
          <p:nvPr/>
        </p:nvSpPr>
        <p:spPr>
          <a:xfrm>
            <a:off x="1082842" y="3640352"/>
            <a:ext cx="1104718" cy="1082267"/>
          </a:xfrm>
          <a:custGeom>
            <a:avLst/>
            <a:gdLst/>
            <a:ahLst/>
            <a:cxnLst/>
            <a:rect l="l" t="t" r="r" b="b"/>
            <a:pathLst>
              <a:path w="1104718" h="1082267">
                <a:moveTo>
                  <a:pt x="0" y="0"/>
                </a:moveTo>
                <a:lnTo>
                  <a:pt x="1104718" y="0"/>
                </a:lnTo>
                <a:lnTo>
                  <a:pt x="1104718" y="1082266"/>
                </a:lnTo>
                <a:lnTo>
                  <a:pt x="0" y="108226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1433818" y="3875125"/>
            <a:ext cx="461173" cy="645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62"/>
              </a:lnSpc>
            </a:pPr>
            <a:r>
              <a:rPr lang="en-US" sz="4603" b="1" spc="-92">
                <a:solidFill>
                  <a:srgbClr val="08459D"/>
                </a:solidFill>
                <a:latin typeface="Lato Bold"/>
                <a:ea typeface="Lato Bold"/>
                <a:cs typeface="Lato Bold"/>
                <a:sym typeface="Lato Bold"/>
              </a:rPr>
              <a:t>1.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474518" y="3650253"/>
            <a:ext cx="7044280" cy="9832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45"/>
              </a:lnSpc>
            </a:pPr>
            <a:r>
              <a:rPr lang="en-US" sz="2888" b="1" spc="-57" dirty="0" err="1">
                <a:solidFill>
                  <a:srgbClr val="063284"/>
                </a:solidFill>
                <a:latin typeface="Lato Bold"/>
                <a:ea typeface="Lato Bold"/>
                <a:cs typeface="Lato Bold"/>
                <a:sym typeface="Lato Bold"/>
              </a:rPr>
              <a:t>Winsorization</a:t>
            </a:r>
            <a:r>
              <a:rPr lang="en-US" sz="2888" b="1" spc="-57" dirty="0">
                <a:solidFill>
                  <a:srgbClr val="063284"/>
                </a:solidFill>
                <a:latin typeface="Lato Bold"/>
                <a:ea typeface="Lato Bold"/>
                <a:cs typeface="Lato Bold"/>
                <a:sym typeface="Lato Bold"/>
              </a:rPr>
              <a:t> 1%–99% </a:t>
            </a:r>
            <a:r>
              <a:rPr lang="en-US" sz="2888" b="1" spc="-57" dirty="0" err="1">
                <a:solidFill>
                  <a:srgbClr val="063284"/>
                </a:solidFill>
                <a:latin typeface="Lato Bold"/>
                <a:ea typeface="Lato Bold"/>
                <a:cs typeface="Lato Bold"/>
                <a:sym typeface="Lato Bold"/>
              </a:rPr>
              <a:t>và</a:t>
            </a:r>
            <a:r>
              <a:rPr lang="en-US" sz="2888" b="1" spc="-57" dirty="0">
                <a:solidFill>
                  <a:srgbClr val="063284"/>
                </a:solidFill>
                <a:latin typeface="Lato Bold"/>
                <a:ea typeface="Lato Bold"/>
                <a:cs typeface="Lato Bold"/>
                <a:sym typeface="Lato Bold"/>
              </a:rPr>
              <a:t> </a:t>
            </a:r>
            <a:r>
              <a:rPr lang="en-US" sz="2888" b="1" spc="-57" dirty="0" err="1">
                <a:solidFill>
                  <a:srgbClr val="063284"/>
                </a:solidFill>
                <a:latin typeface="Lato Bold"/>
                <a:ea typeface="Lato Bold"/>
                <a:cs typeface="Lato Bold"/>
                <a:sym typeface="Lato Bold"/>
              </a:rPr>
              <a:t>biến</a:t>
            </a:r>
            <a:r>
              <a:rPr lang="en-US" sz="2888" b="1" spc="-57" dirty="0">
                <a:solidFill>
                  <a:srgbClr val="063284"/>
                </a:solidFill>
                <a:latin typeface="Lato Bold"/>
                <a:ea typeface="Lato Bold"/>
                <a:cs typeface="Lato Bold"/>
                <a:sym typeface="Lato Bold"/>
              </a:rPr>
              <a:t> </a:t>
            </a:r>
            <a:r>
              <a:rPr lang="en-US" sz="2888" b="1" spc="-57" dirty="0" err="1">
                <a:solidFill>
                  <a:srgbClr val="063284"/>
                </a:solidFill>
                <a:latin typeface="Lato Bold"/>
                <a:ea typeface="Lato Bold"/>
                <a:cs typeface="Lato Bold"/>
                <a:sym typeface="Lato Bold"/>
              </a:rPr>
              <a:t>đổi</a:t>
            </a:r>
            <a:r>
              <a:rPr lang="en-US" sz="2888" b="1" spc="-57" dirty="0">
                <a:solidFill>
                  <a:srgbClr val="063284"/>
                </a:solidFill>
                <a:latin typeface="Lato Bold"/>
                <a:ea typeface="Lato Bold"/>
                <a:cs typeface="Lato Bold"/>
                <a:sym typeface="Lato Bold"/>
              </a:rPr>
              <a:t> Log1p</a:t>
            </a:r>
          </a:p>
          <a:p>
            <a:pPr algn="l">
              <a:lnSpc>
                <a:spcPts val="4045"/>
              </a:lnSpc>
            </a:pPr>
            <a:r>
              <a:rPr lang="en-US" sz="2888" b="1" spc="-57" dirty="0" err="1">
                <a:solidFill>
                  <a:srgbClr val="063284"/>
                </a:solidFill>
                <a:latin typeface="Lato Bold"/>
                <a:ea typeface="Lato Bold"/>
                <a:cs typeface="Lato Bold"/>
                <a:sym typeface="Lato Bold"/>
              </a:rPr>
              <a:t>xử</a:t>
            </a:r>
            <a:r>
              <a:rPr lang="en-US" sz="2888" b="1" spc="-57" dirty="0">
                <a:solidFill>
                  <a:srgbClr val="063284"/>
                </a:solidFill>
                <a:latin typeface="Lato Bold"/>
                <a:ea typeface="Lato Bold"/>
                <a:cs typeface="Lato Bold"/>
                <a:sym typeface="Lato Bold"/>
              </a:rPr>
              <a:t> </a:t>
            </a:r>
            <a:r>
              <a:rPr lang="en-US" sz="2888" b="1" spc="-57" dirty="0" err="1">
                <a:solidFill>
                  <a:srgbClr val="063284"/>
                </a:solidFill>
                <a:latin typeface="Lato Bold"/>
                <a:ea typeface="Lato Bold"/>
                <a:cs typeface="Lato Bold"/>
                <a:sym typeface="Lato Bold"/>
              </a:rPr>
              <a:t>lý</a:t>
            </a:r>
            <a:r>
              <a:rPr lang="en-US" sz="2888" b="1" spc="-57" dirty="0">
                <a:solidFill>
                  <a:srgbClr val="063284"/>
                </a:solidFill>
                <a:latin typeface="Lato Bold"/>
                <a:ea typeface="Lato Bold"/>
                <a:cs typeface="Lato Bold"/>
                <a:sym typeface="Lato Bold"/>
              </a:rPr>
              <a:t> </a:t>
            </a:r>
            <a:r>
              <a:rPr lang="en-US" sz="2888" b="1" spc="-57" dirty="0" err="1">
                <a:solidFill>
                  <a:srgbClr val="063284"/>
                </a:solidFill>
                <a:latin typeface="Lato Bold"/>
                <a:ea typeface="Lato Bold"/>
                <a:cs typeface="Lato Bold"/>
                <a:sym typeface="Lato Bold"/>
              </a:rPr>
              <a:t>ngoại</a:t>
            </a:r>
            <a:r>
              <a:rPr lang="en-US" sz="2888" b="1" spc="-57" dirty="0">
                <a:solidFill>
                  <a:srgbClr val="063284"/>
                </a:solidFill>
                <a:latin typeface="Lato Bold"/>
                <a:ea typeface="Lato Bold"/>
                <a:cs typeface="Lato Bold"/>
                <a:sym typeface="Lato Bold"/>
              </a:rPr>
              <a:t> </a:t>
            </a:r>
            <a:r>
              <a:rPr lang="en-US" sz="2888" b="1" spc="-57" dirty="0" err="1">
                <a:solidFill>
                  <a:srgbClr val="063284"/>
                </a:solidFill>
                <a:latin typeface="Lato Bold"/>
                <a:ea typeface="Lato Bold"/>
                <a:cs typeface="Lato Bold"/>
                <a:sym typeface="Lato Bold"/>
              </a:rPr>
              <a:t>lệ</a:t>
            </a:r>
            <a:r>
              <a:rPr lang="en-US" sz="2888" b="1" spc="-57" dirty="0">
                <a:solidFill>
                  <a:srgbClr val="063284"/>
                </a:solidFill>
                <a:latin typeface="Lato Bold"/>
                <a:ea typeface="Lato Bold"/>
                <a:cs typeface="Lato Bold"/>
                <a:sym typeface="Lato Bold"/>
              </a:rPr>
              <a:t> </a:t>
            </a:r>
            <a:r>
              <a:rPr lang="en-US" sz="2888" b="1" spc="-57" dirty="0" err="1">
                <a:solidFill>
                  <a:srgbClr val="063284"/>
                </a:solidFill>
                <a:latin typeface="Lato Bold"/>
                <a:ea typeface="Lato Bold"/>
                <a:cs typeface="Lato Bold"/>
                <a:sym typeface="Lato Bold"/>
              </a:rPr>
              <a:t>cùng</a:t>
            </a:r>
            <a:r>
              <a:rPr lang="en-US" sz="2888" b="1" spc="-57" dirty="0">
                <a:solidFill>
                  <a:srgbClr val="063284"/>
                </a:solidFill>
                <a:latin typeface="Lato Bold"/>
                <a:ea typeface="Lato Bold"/>
                <a:cs typeface="Lato Bold"/>
                <a:sym typeface="Lato Bold"/>
              </a:rPr>
              <a:t> </a:t>
            </a:r>
            <a:r>
              <a:rPr lang="en-US" sz="2888" b="1" spc="-57" dirty="0" err="1">
                <a:solidFill>
                  <a:srgbClr val="063284"/>
                </a:solidFill>
                <a:latin typeface="Lato Bold"/>
                <a:ea typeface="Lato Bold"/>
                <a:cs typeface="Lato Bold"/>
                <a:sym typeface="Lato Bold"/>
              </a:rPr>
              <a:t>phân</a:t>
            </a:r>
            <a:r>
              <a:rPr lang="en-US" sz="2888" b="1" spc="-57" dirty="0">
                <a:solidFill>
                  <a:srgbClr val="063284"/>
                </a:solidFill>
                <a:latin typeface="Lato Bold"/>
                <a:ea typeface="Lato Bold"/>
                <a:cs typeface="Lato Bold"/>
                <a:sym typeface="Lato Bold"/>
              </a:rPr>
              <a:t> </a:t>
            </a:r>
            <a:r>
              <a:rPr lang="en-US" sz="2888" b="1" spc="-57" dirty="0" err="1">
                <a:solidFill>
                  <a:srgbClr val="063284"/>
                </a:solidFill>
                <a:latin typeface="Lato Bold"/>
                <a:ea typeface="Lato Bold"/>
                <a:cs typeface="Lato Bold"/>
                <a:sym typeface="Lato Bold"/>
              </a:rPr>
              <a:t>phối</a:t>
            </a:r>
            <a:r>
              <a:rPr lang="en-US" sz="2888" b="1" spc="-57" dirty="0">
                <a:solidFill>
                  <a:srgbClr val="063284"/>
                </a:solidFill>
                <a:latin typeface="Lato Bold"/>
                <a:ea typeface="Lato Bold"/>
                <a:cs typeface="Lato Bold"/>
                <a:sym typeface="Lato Bold"/>
              </a:rPr>
              <a:t> </a:t>
            </a:r>
            <a:r>
              <a:rPr lang="en-US" sz="2888" b="1" spc="-57" dirty="0" err="1">
                <a:solidFill>
                  <a:srgbClr val="063284"/>
                </a:solidFill>
                <a:latin typeface="Lato Bold"/>
                <a:ea typeface="Lato Bold"/>
                <a:cs typeface="Lato Bold"/>
                <a:sym typeface="Lato Bold"/>
              </a:rPr>
              <a:t>lệch</a:t>
            </a:r>
            <a:r>
              <a:rPr lang="en-US" sz="2888" b="1" spc="-57" dirty="0">
                <a:solidFill>
                  <a:srgbClr val="063284"/>
                </a:solidFill>
                <a:latin typeface="Lato Bold"/>
                <a:ea typeface="Lato Bold"/>
                <a:cs typeface="Lato Bold"/>
                <a:sym typeface="Lato Bold"/>
              </a:rPr>
              <a:t> </a:t>
            </a:r>
            <a:r>
              <a:rPr lang="en-US" sz="2888" b="1" spc="-57" dirty="0" err="1">
                <a:solidFill>
                  <a:srgbClr val="063284"/>
                </a:solidFill>
                <a:latin typeface="Lato Bold"/>
                <a:ea typeface="Lato Bold"/>
                <a:cs typeface="Lato Bold"/>
                <a:sym typeface="Lato Bold"/>
              </a:rPr>
              <a:t>phải</a:t>
            </a:r>
            <a:r>
              <a:rPr lang="en-US" sz="2888" b="1" spc="-57" dirty="0">
                <a:solidFill>
                  <a:srgbClr val="063284"/>
                </a:solidFill>
                <a:latin typeface="Lato Bold"/>
                <a:ea typeface="Lato Bold"/>
                <a:cs typeface="Lato Bold"/>
                <a:sym typeface="Lato Bold"/>
              </a:rPr>
              <a:t>.</a:t>
            </a:r>
          </a:p>
        </p:txBody>
      </p:sp>
      <p:sp>
        <p:nvSpPr>
          <p:cNvPr id="11" name="Freeform 11"/>
          <p:cNvSpPr/>
          <p:nvPr/>
        </p:nvSpPr>
        <p:spPr>
          <a:xfrm>
            <a:off x="1082842" y="5138034"/>
            <a:ext cx="1104718" cy="1300906"/>
          </a:xfrm>
          <a:custGeom>
            <a:avLst/>
            <a:gdLst/>
            <a:ahLst/>
            <a:cxnLst/>
            <a:rect l="l" t="t" r="r" b="b"/>
            <a:pathLst>
              <a:path w="1104718" h="1300906">
                <a:moveTo>
                  <a:pt x="0" y="0"/>
                </a:moveTo>
                <a:lnTo>
                  <a:pt x="1104718" y="0"/>
                </a:lnTo>
                <a:lnTo>
                  <a:pt x="1104718" y="1300906"/>
                </a:lnTo>
                <a:lnTo>
                  <a:pt x="0" y="130090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1367311" y="5417555"/>
            <a:ext cx="594187" cy="7232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624"/>
              </a:lnSpc>
            </a:pPr>
            <a:r>
              <a:rPr lang="en-US" sz="5115" b="1" spc="-102">
                <a:solidFill>
                  <a:srgbClr val="08459D"/>
                </a:solidFill>
                <a:latin typeface="Lato Bold"/>
                <a:ea typeface="Lato Bold"/>
                <a:cs typeface="Lato Bold"/>
                <a:sym typeface="Lato Bold"/>
              </a:rPr>
              <a:t>2.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476576" y="5261763"/>
            <a:ext cx="6838529" cy="9832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45"/>
              </a:lnSpc>
            </a:pPr>
            <a:r>
              <a:rPr lang="en-US" sz="2888" b="1" spc="-57">
                <a:solidFill>
                  <a:srgbClr val="063284"/>
                </a:solidFill>
                <a:latin typeface="Lato Bold"/>
                <a:ea typeface="Lato Bold"/>
                <a:cs typeface="Lato Bold"/>
                <a:sym typeface="Lato Bold"/>
              </a:rPr>
              <a:t>Cờ isSeverely Delayed ghi nhận giao trễ</a:t>
            </a:r>
          </a:p>
          <a:p>
            <a:pPr algn="l">
              <a:lnSpc>
                <a:spcPts val="4045"/>
              </a:lnSpc>
            </a:pPr>
            <a:r>
              <a:rPr lang="en-US" sz="2888" b="1" spc="-57">
                <a:solidFill>
                  <a:srgbClr val="063284"/>
                </a:solidFill>
                <a:latin typeface="Lato Bold"/>
                <a:ea typeface="Lato Bold"/>
                <a:cs typeface="Lato Bold"/>
                <a:sym typeface="Lato Bold"/>
              </a:rPr>
              <a:t>nghiêm trọng trên 3 ngày.</a:t>
            </a:r>
          </a:p>
        </p:txBody>
      </p:sp>
      <p:sp>
        <p:nvSpPr>
          <p:cNvPr id="14" name="Freeform 14"/>
          <p:cNvSpPr/>
          <p:nvPr/>
        </p:nvSpPr>
        <p:spPr>
          <a:xfrm>
            <a:off x="1082842" y="6635716"/>
            <a:ext cx="1104718" cy="1300906"/>
          </a:xfrm>
          <a:custGeom>
            <a:avLst/>
            <a:gdLst/>
            <a:ahLst/>
            <a:cxnLst/>
            <a:rect l="l" t="t" r="r" b="b"/>
            <a:pathLst>
              <a:path w="1104718" h="1300906">
                <a:moveTo>
                  <a:pt x="0" y="0"/>
                </a:moveTo>
                <a:lnTo>
                  <a:pt x="1104718" y="0"/>
                </a:lnTo>
                <a:lnTo>
                  <a:pt x="1104718" y="1300907"/>
                </a:lnTo>
                <a:lnTo>
                  <a:pt x="0" y="130090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1361648" y="7029064"/>
            <a:ext cx="605514" cy="7232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624"/>
              </a:lnSpc>
            </a:pPr>
            <a:r>
              <a:rPr lang="en-US" sz="5115" b="1" spc="-102">
                <a:solidFill>
                  <a:srgbClr val="08459D"/>
                </a:solidFill>
                <a:latin typeface="Lato Bold"/>
                <a:ea typeface="Lato Bold"/>
                <a:cs typeface="Lato Bold"/>
                <a:sym typeface="Lato Bold"/>
              </a:rPr>
              <a:t>3.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460607" y="6883131"/>
            <a:ext cx="8435426" cy="9747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87"/>
              </a:lnSpc>
            </a:pPr>
            <a:r>
              <a:rPr lang="en-US" sz="2847" b="1" spc="-57">
                <a:solidFill>
                  <a:srgbClr val="063284"/>
                </a:solidFill>
                <a:latin typeface="Lato Bold"/>
                <a:ea typeface="Lato Bold"/>
                <a:cs typeface="Lato Bold"/>
                <a:sym typeface="Lato Bold"/>
              </a:rPr>
              <a:t>StandardScaler chuẩn hóa 10 đặc trưng;</a:t>
            </a:r>
          </a:p>
          <a:p>
            <a:pPr algn="l">
              <a:lnSpc>
                <a:spcPts val="3987"/>
              </a:lnSpc>
            </a:pPr>
            <a:r>
              <a:rPr lang="en-US" sz="2847" b="1" spc="-57">
                <a:solidFill>
                  <a:srgbClr val="063284"/>
                </a:solidFill>
                <a:latin typeface="Lato Bold"/>
                <a:ea typeface="Lato Bold"/>
                <a:cs typeface="Lato Bold"/>
                <a:sym typeface="Lato Bold"/>
              </a:rPr>
              <a:t>hai thành phần PCA giải thích 52,04% phương sai.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409924" y="2218985"/>
            <a:ext cx="2020057" cy="19995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334"/>
              </a:lnSpc>
            </a:pPr>
            <a:r>
              <a:rPr lang="en-US" sz="13945" b="1" spc="-279">
                <a:solidFill>
                  <a:srgbClr val="FDAF6A"/>
                </a:solidFill>
                <a:latin typeface="Lato Bold"/>
                <a:ea typeface="Lato Bold"/>
                <a:cs typeface="Lato Bold"/>
                <a:sym typeface="Lato Bold"/>
              </a:rPr>
              <a:t>10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2489359" y="4091291"/>
            <a:ext cx="4792271" cy="5640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638"/>
              </a:lnSpc>
            </a:pPr>
            <a:r>
              <a:rPr lang="en-US" sz="3568" b="1" spc="-71">
                <a:solidFill>
                  <a:srgbClr val="F4F6FC"/>
                </a:solidFill>
                <a:latin typeface="Lato Bold"/>
                <a:ea typeface="Lato Bold"/>
                <a:cs typeface="Lato Bold"/>
                <a:sym typeface="Lato Bold"/>
              </a:rPr>
              <a:t>đặc trưng mô hình hóa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2485851" y="5203559"/>
            <a:ext cx="5143074" cy="15026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578"/>
              </a:lnSpc>
            </a:pPr>
            <a:r>
              <a:rPr lang="en-US" sz="10529" b="1" spc="-210">
                <a:solidFill>
                  <a:srgbClr val="FD8F33"/>
                </a:solidFill>
                <a:latin typeface="Lato Bold"/>
                <a:ea typeface="Lato Bold"/>
                <a:cs typeface="Lato Bold"/>
                <a:sym typeface="Lato Bold"/>
              </a:rPr>
              <a:t>52,04%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495463" y="6817125"/>
            <a:ext cx="4181786" cy="10669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323" b="1" spc="-66">
                <a:solidFill>
                  <a:srgbClr val="F4F6FC"/>
                </a:solidFill>
                <a:latin typeface="Lato Bold"/>
                <a:ea typeface="Lato Bold"/>
                <a:cs typeface="Lato Bold"/>
                <a:sym typeface="Lato Bold"/>
              </a:rPr>
              <a:t>PCA hai thành phần · 52,04% phương sai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5236354" y="0"/>
            <a:ext cx="3051646" cy="2579949"/>
          </a:xfrm>
          <a:custGeom>
            <a:avLst/>
            <a:gdLst/>
            <a:ahLst/>
            <a:cxnLst/>
            <a:rect l="l" t="t" r="r" b="b"/>
            <a:pathLst>
              <a:path w="3051646" h="2579949">
                <a:moveTo>
                  <a:pt x="0" y="0"/>
                </a:moveTo>
                <a:lnTo>
                  <a:pt x="3051646" y="0"/>
                </a:lnTo>
                <a:lnTo>
                  <a:pt x="3051646" y="2579949"/>
                </a:lnTo>
                <a:lnTo>
                  <a:pt x="0" y="2579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6756708" y="634055"/>
            <a:ext cx="1531292" cy="3443576"/>
          </a:xfrm>
          <a:custGeom>
            <a:avLst/>
            <a:gdLst/>
            <a:ahLst/>
            <a:cxnLst/>
            <a:rect l="l" t="t" r="r" b="b"/>
            <a:pathLst>
              <a:path w="1531292" h="3443576">
                <a:moveTo>
                  <a:pt x="0" y="0"/>
                </a:moveTo>
                <a:lnTo>
                  <a:pt x="1531292" y="0"/>
                </a:lnTo>
                <a:lnTo>
                  <a:pt x="1531292" y="3443576"/>
                </a:lnTo>
                <a:lnTo>
                  <a:pt x="0" y="344357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0" y="6854356"/>
            <a:ext cx="4145426" cy="3432644"/>
          </a:xfrm>
          <a:custGeom>
            <a:avLst/>
            <a:gdLst/>
            <a:ahLst/>
            <a:cxnLst/>
            <a:rect l="l" t="t" r="r" b="b"/>
            <a:pathLst>
              <a:path w="4145426" h="3432644">
                <a:moveTo>
                  <a:pt x="0" y="0"/>
                </a:moveTo>
                <a:lnTo>
                  <a:pt x="4145426" y="0"/>
                </a:lnTo>
                <a:lnTo>
                  <a:pt x="4145426" y="3432644"/>
                </a:lnTo>
                <a:lnTo>
                  <a:pt x="0" y="343264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0" y="8133399"/>
            <a:ext cx="2187560" cy="2153601"/>
          </a:xfrm>
          <a:custGeom>
            <a:avLst/>
            <a:gdLst/>
            <a:ahLst/>
            <a:cxnLst/>
            <a:rect l="l" t="t" r="r" b="b"/>
            <a:pathLst>
              <a:path w="2187560" h="2153601">
                <a:moveTo>
                  <a:pt x="0" y="0"/>
                </a:moveTo>
                <a:lnTo>
                  <a:pt x="2187560" y="0"/>
                </a:lnTo>
                <a:lnTo>
                  <a:pt x="2187560" y="2153601"/>
                </a:lnTo>
                <a:lnTo>
                  <a:pt x="0" y="215360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939131" y="1558212"/>
            <a:ext cx="13243161" cy="9061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821"/>
              </a:lnSpc>
            </a:pPr>
            <a:r>
              <a:rPr lang="en-US" sz="6821" b="1" spc="-203">
                <a:solidFill>
                  <a:srgbClr val="063A86"/>
                </a:solidFill>
                <a:latin typeface="Lato Bold"/>
                <a:ea typeface="Lato Bold"/>
                <a:cs typeface="Lato Bold"/>
                <a:sym typeface="Lato Bold"/>
              </a:rPr>
              <a:t>Chọn k = 4 bằng đánh giá đa tiêu chí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07770" y="2833569"/>
            <a:ext cx="14947962" cy="4913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02837" lvl="1" indent="-351418" algn="l">
              <a:lnSpc>
                <a:spcPts val="3908"/>
              </a:lnSpc>
              <a:buFont typeface="Arial"/>
              <a:buChar char="•"/>
            </a:pPr>
            <a:r>
              <a:rPr lang="en-US" sz="3256">
                <a:solidFill>
                  <a:srgbClr val="063A86"/>
                </a:solidFill>
                <a:latin typeface="Lato"/>
                <a:ea typeface="Lato"/>
                <a:cs typeface="Lato"/>
                <a:sym typeface="Lato"/>
              </a:rPr>
              <a:t>K-Means, GMM và DBSCAN được thử nghiệm để so sánh các cách phân cụm.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52922" y="3586611"/>
            <a:ext cx="10432808" cy="4913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02837" lvl="1" indent="-351418" algn="l">
              <a:lnSpc>
                <a:spcPts val="3908"/>
              </a:lnSpc>
              <a:buFont typeface="Arial"/>
              <a:buChar char="•"/>
            </a:pPr>
            <a:r>
              <a:rPr lang="en-US" sz="3256">
                <a:solidFill>
                  <a:srgbClr val="063A86"/>
                </a:solidFill>
                <a:latin typeface="Lato"/>
                <a:ea typeface="Lato"/>
                <a:cs typeface="Lato"/>
                <a:sym typeface="Lato"/>
              </a:rPr>
              <a:t>Với k = 4, Silhouette Score đạt mức cao nhất: 0,2413.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93496" y="4369774"/>
            <a:ext cx="16375377" cy="4913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88194" lvl="1" indent="-344097" algn="l">
              <a:lnSpc>
                <a:spcPts val="3827"/>
              </a:lnSpc>
              <a:buFont typeface="Arial"/>
              <a:buChar char="•"/>
            </a:pPr>
            <a:r>
              <a:rPr lang="en-US" sz="3189">
                <a:solidFill>
                  <a:srgbClr val="063A86"/>
                </a:solidFill>
                <a:latin typeface="Lato"/>
                <a:ea typeface="Lato"/>
                <a:cs typeface="Lato"/>
                <a:sym typeface="Lato"/>
              </a:rPr>
              <a:t>Davies–Bouldin Index thấp nhất ở k = 4: 1,1945; Elbow cũng cho thấy điểm uốn rõ rệt.</a:t>
            </a:r>
          </a:p>
        </p:txBody>
      </p:sp>
      <p:sp>
        <p:nvSpPr>
          <p:cNvPr id="11" name="Freeform 11"/>
          <p:cNvSpPr/>
          <p:nvPr/>
        </p:nvSpPr>
        <p:spPr>
          <a:xfrm>
            <a:off x="4134488" y="5564382"/>
            <a:ext cx="10019024" cy="3443576"/>
          </a:xfrm>
          <a:custGeom>
            <a:avLst/>
            <a:gdLst/>
            <a:ahLst/>
            <a:cxnLst/>
            <a:rect l="l" t="t" r="r" b="b"/>
            <a:pathLst>
              <a:path w="10019024" h="3443576">
                <a:moveTo>
                  <a:pt x="0" y="0"/>
                </a:moveTo>
                <a:lnTo>
                  <a:pt x="10019024" y="0"/>
                </a:lnTo>
                <a:lnTo>
                  <a:pt x="10019024" y="3443575"/>
                </a:lnTo>
                <a:lnTo>
                  <a:pt x="0" y="344357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6967179" y="5911799"/>
            <a:ext cx="4190585" cy="2027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201"/>
              </a:lnSpc>
            </a:pPr>
            <a:r>
              <a:rPr lang="en-US" sz="15201" b="1" spc="2278">
                <a:solidFill>
                  <a:srgbClr val="F48338"/>
                </a:solidFill>
                <a:latin typeface="Lato Bold"/>
                <a:ea typeface="Lato Bold"/>
                <a:cs typeface="Lato Bold"/>
                <a:sym typeface="Lato Bold"/>
              </a:rPr>
              <a:t>k=4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998192" y="7809758"/>
            <a:ext cx="6128561" cy="6353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72"/>
              </a:lnSpc>
            </a:pPr>
            <a:r>
              <a:rPr lang="en-US" sz="4872" b="1" spc="-145">
                <a:solidFill>
                  <a:srgbClr val="063A86"/>
                </a:solidFill>
                <a:latin typeface="Lato Bold"/>
                <a:ea typeface="Lato Bold"/>
                <a:cs typeface="Lato Bold"/>
                <a:sym typeface="Lato Bold"/>
              </a:rPr>
              <a:t>Số cụm được lựa chọn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5017598" y="0"/>
            <a:ext cx="3270402" cy="2361309"/>
          </a:xfrm>
          <a:custGeom>
            <a:avLst/>
            <a:gdLst/>
            <a:ahLst/>
            <a:cxnLst/>
            <a:rect l="l" t="t" r="r" b="b"/>
            <a:pathLst>
              <a:path w="3270402" h="2361309">
                <a:moveTo>
                  <a:pt x="0" y="0"/>
                </a:moveTo>
                <a:lnTo>
                  <a:pt x="3270402" y="0"/>
                </a:lnTo>
                <a:lnTo>
                  <a:pt x="3270402" y="2361309"/>
                </a:lnTo>
                <a:lnTo>
                  <a:pt x="0" y="236130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0" y="7925691"/>
            <a:ext cx="3270402" cy="2361309"/>
          </a:xfrm>
          <a:custGeom>
            <a:avLst/>
            <a:gdLst/>
            <a:ahLst/>
            <a:cxnLst/>
            <a:rect l="l" t="t" r="r" b="b"/>
            <a:pathLst>
              <a:path w="3270402" h="2361309">
                <a:moveTo>
                  <a:pt x="0" y="0"/>
                </a:moveTo>
                <a:lnTo>
                  <a:pt x="3270402" y="0"/>
                </a:lnTo>
                <a:lnTo>
                  <a:pt x="3270402" y="2361309"/>
                </a:lnTo>
                <a:lnTo>
                  <a:pt x="0" y="236130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841033" y="1363790"/>
            <a:ext cx="12337326" cy="7208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429"/>
              </a:lnSpc>
            </a:pPr>
            <a:r>
              <a:rPr lang="en-US" sz="5429" b="1" spc="-108">
                <a:solidFill>
                  <a:srgbClr val="063682"/>
                </a:solidFill>
                <a:latin typeface="Lato Bold"/>
                <a:ea typeface="Lato Bold"/>
                <a:cs typeface="Lato Bold"/>
                <a:sym typeface="Lato Bold"/>
              </a:rPr>
              <a:t>Bốn phân khúc, bốn nhu cầu khác nhau</a:t>
            </a:r>
          </a:p>
        </p:txBody>
      </p:sp>
      <p:sp>
        <p:nvSpPr>
          <p:cNvPr id="6" name="Freeform 6"/>
          <p:cNvSpPr/>
          <p:nvPr/>
        </p:nvSpPr>
        <p:spPr>
          <a:xfrm>
            <a:off x="426574" y="2569017"/>
            <a:ext cx="9154938" cy="2579949"/>
          </a:xfrm>
          <a:custGeom>
            <a:avLst/>
            <a:gdLst/>
            <a:ahLst/>
            <a:cxnLst/>
            <a:rect l="l" t="t" r="r" b="b"/>
            <a:pathLst>
              <a:path w="9154938" h="2579949">
                <a:moveTo>
                  <a:pt x="0" y="0"/>
                </a:moveTo>
                <a:lnTo>
                  <a:pt x="9154938" y="0"/>
                </a:lnTo>
                <a:lnTo>
                  <a:pt x="9154938" y="2579949"/>
                </a:lnTo>
                <a:lnTo>
                  <a:pt x="0" y="2579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1012928" y="2906846"/>
            <a:ext cx="3184574" cy="4809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19"/>
              </a:lnSpc>
            </a:pPr>
            <a:r>
              <a:rPr lang="en-US" sz="3619" b="1" spc="-72">
                <a:solidFill>
                  <a:srgbClr val="063682"/>
                </a:solidFill>
                <a:latin typeface="Lato Bold"/>
                <a:ea typeface="Lato Bold"/>
                <a:cs typeface="Lato Bold"/>
                <a:sym typeface="Lato Bold"/>
              </a:rPr>
              <a:t>VIP Champions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35033" y="3677947"/>
            <a:ext cx="974038" cy="4565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84"/>
              </a:lnSpc>
            </a:pPr>
            <a:r>
              <a:rPr lang="en-US" sz="2488" b="1" spc="-49">
                <a:solidFill>
                  <a:srgbClr val="FF8624"/>
                </a:solidFill>
                <a:latin typeface="Lato Bold"/>
                <a:ea typeface="Lato Bold"/>
                <a:cs typeface="Lato Bold"/>
                <a:sym typeface="Lato Bold"/>
              </a:rPr>
              <a:t>17,5%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684736" y="3740675"/>
            <a:ext cx="2095971" cy="4263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16"/>
              </a:lnSpc>
            </a:pPr>
            <a:r>
              <a:rPr lang="en-US" sz="3216" b="1" spc="-128">
                <a:solidFill>
                  <a:srgbClr val="FF8624"/>
                </a:solidFill>
                <a:latin typeface="Lato Bold"/>
                <a:ea typeface="Lato Bold"/>
                <a:cs typeface="Lato Bold"/>
                <a:sym typeface="Lato Bold"/>
              </a:rPr>
              <a:t>625,40 BRL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739802" y="4348483"/>
            <a:ext cx="1947157" cy="243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49"/>
              </a:lnSpc>
            </a:pPr>
            <a:r>
              <a:rPr lang="en-US" sz="1949" spc="-39">
                <a:solidFill>
                  <a:srgbClr val="063682"/>
                </a:solidFill>
                <a:latin typeface="Lato"/>
                <a:ea typeface="Lato"/>
                <a:cs typeface="Lato"/>
                <a:sym typeface="Lato"/>
              </a:rPr>
              <a:t>Chi tiêu trung bình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129252" y="3741906"/>
            <a:ext cx="1424810" cy="4238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16"/>
              </a:lnSpc>
            </a:pPr>
            <a:r>
              <a:rPr lang="en-US" sz="3216" b="1" spc="-128">
                <a:solidFill>
                  <a:srgbClr val="FF8624"/>
                </a:solidFill>
                <a:latin typeface="Lato Bold"/>
                <a:ea typeface="Lato Bold"/>
                <a:cs typeface="Lato Bold"/>
                <a:sym typeface="Lato Bold"/>
              </a:rPr>
              <a:t>4,21 sao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5294968" y="4348483"/>
            <a:ext cx="926680" cy="243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49"/>
              </a:lnSpc>
            </a:pPr>
            <a:r>
              <a:rPr lang="en-US" sz="1949" spc="-39">
                <a:solidFill>
                  <a:srgbClr val="063682"/>
                </a:solidFill>
                <a:latin typeface="Lato"/>
                <a:ea typeface="Lato"/>
                <a:cs typeface="Lato"/>
                <a:sym typeface="Lato"/>
              </a:rPr>
              <a:t>Đánh giá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219193" y="3751652"/>
            <a:ext cx="1643280" cy="4103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216"/>
              </a:lnSpc>
            </a:pPr>
            <a:r>
              <a:rPr lang="en-US" sz="3216" b="1" spc="-128" dirty="0" err="1">
                <a:solidFill>
                  <a:srgbClr val="FF8624"/>
                </a:solidFill>
                <a:latin typeface="Lato Bold"/>
                <a:ea typeface="Lato Bold"/>
                <a:cs typeface="Lato Bold"/>
                <a:sym typeface="Lato Bold"/>
              </a:rPr>
              <a:t>trễ</a:t>
            </a:r>
            <a:r>
              <a:rPr lang="en-US" sz="3216" b="1" spc="-128" dirty="0">
                <a:solidFill>
                  <a:srgbClr val="FF8624"/>
                </a:solidFill>
                <a:latin typeface="Lato Bold"/>
                <a:ea typeface="Lato Bold"/>
                <a:cs typeface="Lato Bold"/>
                <a:sym typeface="Lato Bold"/>
              </a:rPr>
              <a:t> 5,1%</a:t>
            </a:r>
          </a:p>
        </p:txBody>
      </p:sp>
      <p:sp>
        <p:nvSpPr>
          <p:cNvPr id="14" name="Freeform 14"/>
          <p:cNvSpPr/>
          <p:nvPr/>
        </p:nvSpPr>
        <p:spPr>
          <a:xfrm>
            <a:off x="9570574" y="2569017"/>
            <a:ext cx="8290852" cy="2579949"/>
          </a:xfrm>
          <a:custGeom>
            <a:avLst/>
            <a:gdLst/>
            <a:ahLst/>
            <a:cxnLst/>
            <a:rect l="l" t="t" r="r" b="b"/>
            <a:pathLst>
              <a:path w="8290852" h="2579949">
                <a:moveTo>
                  <a:pt x="0" y="0"/>
                </a:moveTo>
                <a:lnTo>
                  <a:pt x="8290852" y="0"/>
                </a:lnTo>
                <a:lnTo>
                  <a:pt x="8290852" y="2579949"/>
                </a:lnTo>
                <a:lnTo>
                  <a:pt x="0" y="257994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10055848" y="2906846"/>
            <a:ext cx="4362895" cy="4809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19"/>
              </a:lnSpc>
            </a:pPr>
            <a:r>
              <a:rPr lang="en-US" sz="3619" b="1" spc="-72">
                <a:solidFill>
                  <a:srgbClr val="063682"/>
                </a:solidFill>
                <a:latin typeface="Lato Bold"/>
                <a:ea typeface="Lato Bold"/>
                <a:cs typeface="Lato Bold"/>
                <a:sym typeface="Lato Bold"/>
              </a:rPr>
              <a:t>Satisfied Mainstream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115398" y="3771207"/>
            <a:ext cx="1086740" cy="4255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16"/>
              </a:lnSpc>
            </a:pPr>
            <a:r>
              <a:rPr lang="en-US" sz="3216" b="1" spc="-128">
                <a:solidFill>
                  <a:srgbClr val="FF8624"/>
                </a:solidFill>
                <a:latin typeface="Lato Bold"/>
                <a:ea typeface="Lato Bold"/>
                <a:cs typeface="Lato Bold"/>
                <a:sym typeface="Lato Bold"/>
              </a:rPr>
              <a:t>50,2%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0117621" y="4349233"/>
            <a:ext cx="864472" cy="2419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889" spc="-37">
                <a:solidFill>
                  <a:srgbClr val="063682"/>
                </a:solidFill>
                <a:latin typeface="Lato"/>
                <a:ea typeface="Lato"/>
                <a:cs typeface="Lato"/>
                <a:sym typeface="Lato"/>
              </a:rPr>
              <a:t>Tỷ trọng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1820451" y="3771207"/>
            <a:ext cx="2031450" cy="4255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16"/>
              </a:lnSpc>
            </a:pPr>
            <a:r>
              <a:rPr lang="en-US" sz="3216" b="1" spc="-128">
                <a:solidFill>
                  <a:srgbClr val="FF8624"/>
                </a:solidFill>
                <a:latin typeface="Lato Bold"/>
                <a:ea typeface="Lato Bold"/>
                <a:cs typeface="Lato Bold"/>
                <a:sym typeface="Lato Bold"/>
              </a:rPr>
              <a:t>148,80 BRL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821294" y="4348483"/>
            <a:ext cx="1947157" cy="243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49"/>
              </a:lnSpc>
            </a:pPr>
            <a:r>
              <a:rPr lang="en-US" sz="1949" spc="-39">
                <a:solidFill>
                  <a:srgbClr val="063682"/>
                </a:solidFill>
                <a:latin typeface="Lato"/>
                <a:ea typeface="Lato"/>
                <a:cs typeface="Lato"/>
                <a:sym typeface="Lato"/>
              </a:rPr>
              <a:t>Chi tiêu trung bình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4210011" y="3770796"/>
            <a:ext cx="1498129" cy="4263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16"/>
              </a:lnSpc>
            </a:pPr>
            <a:r>
              <a:rPr lang="en-US" sz="3216" b="1" spc="-128">
                <a:solidFill>
                  <a:srgbClr val="FF8624"/>
                </a:solidFill>
                <a:latin typeface="Lato Bold"/>
                <a:ea typeface="Lato Bold"/>
                <a:cs typeface="Lato Bold"/>
                <a:sym typeface="Lato Bold"/>
              </a:rPr>
              <a:t>4,32 sao</a:t>
            </a:r>
          </a:p>
        </p:txBody>
      </p:sp>
      <p:sp>
        <p:nvSpPr>
          <p:cNvPr id="21" name="Freeform 21"/>
          <p:cNvSpPr/>
          <p:nvPr/>
        </p:nvSpPr>
        <p:spPr>
          <a:xfrm>
            <a:off x="426574" y="5356674"/>
            <a:ext cx="9154938" cy="2787657"/>
          </a:xfrm>
          <a:custGeom>
            <a:avLst/>
            <a:gdLst/>
            <a:ahLst/>
            <a:cxnLst/>
            <a:rect l="l" t="t" r="r" b="b"/>
            <a:pathLst>
              <a:path w="9154938" h="2787657">
                <a:moveTo>
                  <a:pt x="0" y="0"/>
                </a:moveTo>
                <a:lnTo>
                  <a:pt x="9154938" y="0"/>
                </a:lnTo>
                <a:lnTo>
                  <a:pt x="9154938" y="2787656"/>
                </a:lnTo>
                <a:lnTo>
                  <a:pt x="0" y="278765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22" name="TextBox 22"/>
          <p:cNvSpPr txBox="1"/>
          <p:nvPr/>
        </p:nvSpPr>
        <p:spPr>
          <a:xfrm>
            <a:off x="955248" y="5828649"/>
            <a:ext cx="3594693" cy="4809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19"/>
              </a:lnSpc>
            </a:pPr>
            <a:r>
              <a:rPr lang="en-US" sz="3619" b="1" spc="-72" dirty="0">
                <a:solidFill>
                  <a:srgbClr val="063682"/>
                </a:solidFill>
                <a:latin typeface="Lato Bold"/>
                <a:ea typeface="Lato Bold"/>
                <a:cs typeface="Lato Bold"/>
                <a:sym typeface="Lato Bold"/>
              </a:rPr>
              <a:t>Freight-Sensitive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007331" y="6648648"/>
            <a:ext cx="1065372" cy="4238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16"/>
              </a:lnSpc>
            </a:pPr>
            <a:r>
              <a:rPr lang="en-US" sz="3216" b="1" spc="-128">
                <a:solidFill>
                  <a:srgbClr val="FF8624"/>
                </a:solidFill>
                <a:latin typeface="Lato Bold"/>
                <a:ea typeface="Lato Bold"/>
                <a:cs typeface="Lato Bold"/>
                <a:sym typeface="Lato Bold"/>
              </a:rPr>
              <a:t>24,5%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2633457" y="6647417"/>
            <a:ext cx="1865970" cy="4263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16"/>
              </a:lnSpc>
            </a:pPr>
            <a:r>
              <a:rPr lang="en-US" sz="3216" b="1" spc="-128">
                <a:solidFill>
                  <a:srgbClr val="FF8624"/>
                </a:solidFill>
                <a:latin typeface="Lato Bold"/>
                <a:ea typeface="Lato Bold"/>
                <a:cs typeface="Lato Bold"/>
                <a:sym typeface="Lato Bold"/>
              </a:rPr>
              <a:t>59,20 BRL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2632646" y="7240165"/>
            <a:ext cx="1947157" cy="243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49"/>
              </a:lnSpc>
            </a:pPr>
            <a:r>
              <a:rPr lang="en-US" sz="1949" spc="-39">
                <a:solidFill>
                  <a:srgbClr val="063682"/>
                </a:solidFill>
                <a:latin typeface="Lato"/>
                <a:ea typeface="Lato"/>
                <a:cs typeface="Lato"/>
                <a:sym typeface="Lato"/>
              </a:rPr>
              <a:t>Chi tiêu trung bình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4888033" y="6648648"/>
            <a:ext cx="1436541" cy="4238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16"/>
              </a:lnSpc>
            </a:pPr>
            <a:r>
              <a:rPr lang="en-US" sz="3216" b="1" spc="-128">
                <a:solidFill>
                  <a:srgbClr val="FF8624"/>
                </a:solidFill>
                <a:latin typeface="Lato Bold"/>
                <a:ea typeface="Lato Bold"/>
                <a:cs typeface="Lato Bold"/>
                <a:sym typeface="Lato Bold"/>
              </a:rPr>
              <a:t>4,15 sao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5053866" y="7240165"/>
            <a:ext cx="926680" cy="243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49"/>
              </a:lnSpc>
            </a:pPr>
            <a:r>
              <a:rPr lang="en-US" sz="1949" spc="-39">
                <a:solidFill>
                  <a:srgbClr val="063682"/>
                </a:solidFill>
                <a:latin typeface="Lato"/>
                <a:ea typeface="Lato"/>
                <a:cs typeface="Lato"/>
                <a:sym typeface="Lato"/>
              </a:rPr>
              <a:t>Đánh giá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6697273" y="6646944"/>
            <a:ext cx="2678204" cy="4267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16"/>
              </a:lnSpc>
            </a:pPr>
            <a:r>
              <a:rPr lang="en-US" sz="3216" b="1" spc="-128" dirty="0">
                <a:solidFill>
                  <a:srgbClr val="FF8624"/>
                </a:solidFill>
                <a:latin typeface="Lato Bold"/>
                <a:ea typeface="Lato Bold"/>
                <a:cs typeface="Lato Bold"/>
                <a:sym typeface="Lato Bold"/>
              </a:rPr>
              <a:t>ship/</a:t>
            </a:r>
            <a:r>
              <a:rPr lang="en-US" sz="3216" b="1" spc="-128" dirty="0" err="1">
                <a:solidFill>
                  <a:srgbClr val="FF8624"/>
                </a:solidFill>
                <a:latin typeface="Lato Bold"/>
                <a:ea typeface="Lato Bold"/>
                <a:cs typeface="Lato Bold"/>
                <a:sym typeface="Lato Bold"/>
              </a:rPr>
              <a:t>đơn</a:t>
            </a:r>
            <a:r>
              <a:rPr lang="en-US" sz="3216" b="1" spc="-128" dirty="0">
                <a:solidFill>
                  <a:srgbClr val="FF8624"/>
                </a:solidFill>
                <a:latin typeface="Lato Bold"/>
                <a:ea typeface="Lato Bold"/>
                <a:cs typeface="Lato Bold"/>
                <a:sym typeface="Lato Bold"/>
              </a:rPr>
              <a:t> 38,7%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7010441" y="7240415"/>
            <a:ext cx="829289" cy="2429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29"/>
              </a:lnSpc>
            </a:pPr>
            <a:r>
              <a:rPr lang="en-US" sz="1929" spc="-38">
                <a:solidFill>
                  <a:srgbClr val="063682"/>
                </a:solidFill>
                <a:latin typeface="Lato"/>
                <a:ea typeface="Lato"/>
                <a:cs typeface="Lato"/>
                <a:sym typeface="Lato"/>
              </a:rPr>
              <a:t>Giao trễ</a:t>
            </a:r>
          </a:p>
        </p:txBody>
      </p:sp>
      <p:sp>
        <p:nvSpPr>
          <p:cNvPr id="30" name="Freeform 30"/>
          <p:cNvSpPr/>
          <p:nvPr/>
        </p:nvSpPr>
        <p:spPr>
          <a:xfrm>
            <a:off x="9570574" y="5356674"/>
            <a:ext cx="8290852" cy="2787657"/>
          </a:xfrm>
          <a:custGeom>
            <a:avLst/>
            <a:gdLst/>
            <a:ahLst/>
            <a:cxnLst/>
            <a:rect l="l" t="t" r="r" b="b"/>
            <a:pathLst>
              <a:path w="8290852" h="2787657">
                <a:moveTo>
                  <a:pt x="0" y="0"/>
                </a:moveTo>
                <a:lnTo>
                  <a:pt x="8290852" y="0"/>
                </a:lnTo>
                <a:lnTo>
                  <a:pt x="8290852" y="2787656"/>
                </a:lnTo>
                <a:lnTo>
                  <a:pt x="0" y="278765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31" name="TextBox 31"/>
          <p:cNvSpPr txBox="1"/>
          <p:nvPr/>
        </p:nvSpPr>
        <p:spPr>
          <a:xfrm>
            <a:off x="10066329" y="5828649"/>
            <a:ext cx="3314785" cy="4809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19"/>
              </a:lnSpc>
            </a:pPr>
            <a:r>
              <a:rPr lang="en-US" sz="3619" b="1" spc="-72">
                <a:solidFill>
                  <a:srgbClr val="063682"/>
                </a:solidFill>
                <a:latin typeface="Lato Bold"/>
                <a:ea typeface="Lato Bold"/>
                <a:cs typeface="Lato Bold"/>
                <a:sym typeface="Lato Bold"/>
              </a:rPr>
              <a:t>At-Risk Delivery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0117975" y="6658394"/>
            <a:ext cx="1034357" cy="4103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216"/>
              </a:lnSpc>
            </a:pPr>
            <a:r>
              <a:rPr lang="en-US" sz="3216" b="1" spc="-128" dirty="0">
                <a:solidFill>
                  <a:srgbClr val="FF8624"/>
                </a:solidFill>
                <a:latin typeface="Lato Bold"/>
                <a:ea typeface="Lato Bold"/>
                <a:cs typeface="Lato Bold"/>
                <a:sym typeface="Lato Bold"/>
              </a:rPr>
              <a:t>7,8%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607106" y="6658394"/>
            <a:ext cx="2244795" cy="4103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216"/>
              </a:lnSpc>
            </a:pPr>
            <a:r>
              <a:rPr lang="en-US" sz="3216" b="1" spc="-128" dirty="0">
                <a:solidFill>
                  <a:srgbClr val="FF8624"/>
                </a:solidFill>
                <a:latin typeface="Lato Bold"/>
                <a:ea typeface="Lato Bold"/>
                <a:cs typeface="Lato Bold"/>
                <a:sym typeface="Lato Bold"/>
              </a:rPr>
              <a:t>182,10 BRL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660560" y="7240165"/>
            <a:ext cx="1947157" cy="243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49"/>
              </a:lnSpc>
            </a:pPr>
            <a:r>
              <a:rPr lang="en-US" sz="1949" spc="-39">
                <a:solidFill>
                  <a:srgbClr val="063682"/>
                </a:solidFill>
                <a:latin typeface="Lato"/>
                <a:ea typeface="Lato"/>
                <a:cs typeface="Lato"/>
                <a:sym typeface="Lato"/>
              </a:rPr>
              <a:t>Chi tiêu trung bình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3996549" y="6648648"/>
            <a:ext cx="1413079" cy="4238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16"/>
              </a:lnSpc>
            </a:pPr>
            <a:r>
              <a:rPr lang="en-US" sz="3216" b="1" spc="-128" dirty="0">
                <a:solidFill>
                  <a:srgbClr val="FF8624"/>
                </a:solidFill>
                <a:latin typeface="Lato Bold"/>
                <a:ea typeface="Lato Bold"/>
                <a:cs typeface="Lato Bold"/>
                <a:sym typeface="Lato Bold"/>
              </a:rPr>
              <a:t>1,74 </a:t>
            </a:r>
            <a:r>
              <a:rPr lang="en-US" sz="3216" b="1" spc="-128" dirty="0" err="1">
                <a:solidFill>
                  <a:srgbClr val="FF8624"/>
                </a:solidFill>
                <a:latin typeface="Lato Bold"/>
                <a:ea typeface="Lato Bold"/>
                <a:cs typeface="Lato Bold"/>
                <a:sym typeface="Lato Bold"/>
              </a:rPr>
              <a:t>sao</a:t>
            </a:r>
            <a:endParaRPr lang="en-US" sz="3216" b="1" spc="-128" dirty="0">
              <a:solidFill>
                <a:srgbClr val="FF8624"/>
              </a:solidFill>
              <a:latin typeface="Lato Bold"/>
              <a:ea typeface="Lato Bold"/>
              <a:cs typeface="Lato Bold"/>
              <a:sym typeface="Lato Bold"/>
            </a:endParaRPr>
          </a:p>
        </p:txBody>
      </p:sp>
      <p:sp>
        <p:nvSpPr>
          <p:cNvPr id="36" name="TextBox 36"/>
          <p:cNvSpPr txBox="1"/>
          <p:nvPr/>
        </p:nvSpPr>
        <p:spPr>
          <a:xfrm>
            <a:off x="15934292" y="6648648"/>
            <a:ext cx="1567678" cy="4238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216"/>
              </a:lnSpc>
            </a:pPr>
            <a:r>
              <a:rPr lang="en-US" sz="3216" b="1" spc="-128">
                <a:solidFill>
                  <a:srgbClr val="FF8624"/>
                </a:solidFill>
                <a:latin typeface="Lato Bold"/>
                <a:ea typeface="Lato Bold"/>
                <a:cs typeface="Lato Bold"/>
                <a:sym typeface="Lato Bold"/>
              </a:rPr>
              <a:t>trễ 100%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6003201" y="8465090"/>
            <a:ext cx="6066572" cy="392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84"/>
              </a:lnSpc>
            </a:pPr>
            <a:r>
              <a:rPr lang="en-US" sz="2488" spc="-49">
                <a:solidFill>
                  <a:srgbClr val="063682"/>
                </a:solidFill>
                <a:latin typeface="Lato"/>
                <a:ea typeface="Lato"/>
                <a:cs typeface="Lato"/>
                <a:sym typeface="Lato"/>
              </a:rPr>
              <a:t>Tỷ trọng, chi tiêu trung bình, đánh giá và giao trễ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4349671" y="4348483"/>
            <a:ext cx="926680" cy="243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49"/>
              </a:lnSpc>
            </a:pPr>
            <a:r>
              <a:rPr lang="en-US" sz="1949" spc="-39">
                <a:solidFill>
                  <a:srgbClr val="063682"/>
                </a:solidFill>
                <a:latin typeface="Lato"/>
                <a:ea typeface="Lato"/>
                <a:cs typeface="Lato"/>
                <a:sym typeface="Lato"/>
              </a:rPr>
              <a:t>Đánh giá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062918" y="4349233"/>
            <a:ext cx="864472" cy="2419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889" spc="-37">
                <a:solidFill>
                  <a:srgbClr val="063682"/>
                </a:solidFill>
                <a:latin typeface="Lato"/>
                <a:ea typeface="Lato"/>
                <a:cs typeface="Lato"/>
                <a:sym typeface="Lato"/>
              </a:rPr>
              <a:t>Tỷ trọng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7251543" y="4348733"/>
            <a:ext cx="829289" cy="2429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29"/>
              </a:lnSpc>
            </a:pPr>
            <a:r>
              <a:rPr lang="en-US" sz="1929" spc="-38">
                <a:solidFill>
                  <a:srgbClr val="063682"/>
                </a:solidFill>
                <a:latin typeface="Lato"/>
                <a:ea typeface="Lato"/>
                <a:cs typeface="Lato"/>
                <a:sym typeface="Lato"/>
              </a:rPr>
              <a:t>Giao trễ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6279457" y="4348733"/>
            <a:ext cx="829289" cy="2429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29"/>
              </a:lnSpc>
            </a:pPr>
            <a:r>
              <a:rPr lang="en-US" sz="1929" spc="-38">
                <a:solidFill>
                  <a:srgbClr val="063682"/>
                </a:solidFill>
                <a:latin typeface="Lato"/>
                <a:ea typeface="Lato"/>
                <a:cs typeface="Lato"/>
                <a:sym typeface="Lato"/>
              </a:rPr>
              <a:t>Giao trễ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14135358" y="7240165"/>
            <a:ext cx="926680" cy="243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49"/>
              </a:lnSpc>
            </a:pPr>
            <a:r>
              <a:rPr lang="en-US" sz="1949" spc="-39">
                <a:solidFill>
                  <a:srgbClr val="063682"/>
                </a:solidFill>
                <a:latin typeface="Lato"/>
                <a:ea typeface="Lato"/>
                <a:cs typeface="Lato"/>
                <a:sym typeface="Lato"/>
              </a:rPr>
              <a:t>Đánh giá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009340" y="7240915"/>
            <a:ext cx="864472" cy="2419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889" spc="-37">
                <a:solidFill>
                  <a:srgbClr val="063682"/>
                </a:solidFill>
                <a:latin typeface="Lato"/>
                <a:ea typeface="Lato"/>
                <a:cs typeface="Lato"/>
                <a:sym typeface="Lato"/>
              </a:rPr>
              <a:t>Tỷ trọng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0117621" y="7240915"/>
            <a:ext cx="864472" cy="2419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889" spc="-37">
                <a:solidFill>
                  <a:srgbClr val="063682"/>
                </a:solidFill>
                <a:latin typeface="Lato"/>
                <a:ea typeface="Lato"/>
                <a:cs typeface="Lato"/>
                <a:sym typeface="Lato"/>
              </a:rPr>
              <a:t>Tỷ trọng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6416241" y="3772028"/>
            <a:ext cx="545471" cy="4238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16"/>
              </a:lnSpc>
            </a:pPr>
            <a:r>
              <a:rPr lang="en-US" sz="3216" b="1" spc="-128">
                <a:solidFill>
                  <a:srgbClr val="FF8624"/>
                </a:solidFill>
                <a:latin typeface="Lato Bold"/>
                <a:ea typeface="Lato Bold"/>
                <a:cs typeface="Lato Bold"/>
                <a:sym typeface="Lato Bold"/>
              </a:rPr>
              <a:t>0%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6038356" y="7240415"/>
            <a:ext cx="829289" cy="2429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29"/>
              </a:lnSpc>
            </a:pPr>
            <a:r>
              <a:rPr lang="en-US" sz="1929" spc="-38">
                <a:solidFill>
                  <a:srgbClr val="063682"/>
                </a:solidFill>
                <a:latin typeface="Lato"/>
                <a:ea typeface="Lato"/>
                <a:cs typeface="Lato"/>
                <a:sym typeface="Lato"/>
              </a:rPr>
              <a:t>Giao trễ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5017598" y="0"/>
            <a:ext cx="3270402" cy="2361309"/>
          </a:xfrm>
          <a:custGeom>
            <a:avLst/>
            <a:gdLst/>
            <a:ahLst/>
            <a:cxnLst/>
            <a:rect l="l" t="t" r="r" b="b"/>
            <a:pathLst>
              <a:path w="3270402" h="2361309">
                <a:moveTo>
                  <a:pt x="0" y="0"/>
                </a:moveTo>
                <a:lnTo>
                  <a:pt x="3270402" y="0"/>
                </a:lnTo>
                <a:lnTo>
                  <a:pt x="3270402" y="2361309"/>
                </a:lnTo>
                <a:lnTo>
                  <a:pt x="0" y="236130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0" y="7707051"/>
            <a:ext cx="3051646" cy="2579949"/>
          </a:xfrm>
          <a:custGeom>
            <a:avLst/>
            <a:gdLst/>
            <a:ahLst/>
            <a:cxnLst/>
            <a:rect l="l" t="t" r="r" b="b"/>
            <a:pathLst>
              <a:path w="3051646" h="2579949">
                <a:moveTo>
                  <a:pt x="0" y="0"/>
                </a:moveTo>
                <a:lnTo>
                  <a:pt x="3051646" y="0"/>
                </a:lnTo>
                <a:lnTo>
                  <a:pt x="3051646" y="2579949"/>
                </a:lnTo>
                <a:lnTo>
                  <a:pt x="0" y="257994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921134" y="1358208"/>
            <a:ext cx="15042831" cy="9637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665"/>
              </a:lnSpc>
            </a:pPr>
            <a:r>
              <a:rPr lang="en-US" sz="6386" b="1">
                <a:solidFill>
                  <a:srgbClr val="072F7D"/>
                </a:solidFill>
                <a:latin typeface="Lato Heavy"/>
                <a:ea typeface="Lato Heavy"/>
                <a:cs typeface="Lato Heavy"/>
                <a:sym typeface="Lato Heavy"/>
              </a:rPr>
              <a:t>Vì sao Olist cần thêm chiều trải nghiệm?</a:t>
            </a:r>
          </a:p>
        </p:txBody>
      </p:sp>
      <p:sp>
        <p:nvSpPr>
          <p:cNvPr id="6" name="Freeform 6"/>
          <p:cNvSpPr/>
          <p:nvPr/>
        </p:nvSpPr>
        <p:spPr>
          <a:xfrm>
            <a:off x="864086" y="2776725"/>
            <a:ext cx="8279914" cy="6012593"/>
          </a:xfrm>
          <a:custGeom>
            <a:avLst/>
            <a:gdLst/>
            <a:ahLst/>
            <a:cxnLst/>
            <a:rect l="l" t="t" r="r" b="b"/>
            <a:pathLst>
              <a:path w="8279914" h="6012593">
                <a:moveTo>
                  <a:pt x="0" y="0"/>
                </a:moveTo>
                <a:lnTo>
                  <a:pt x="8279914" y="0"/>
                </a:lnTo>
                <a:lnTo>
                  <a:pt x="8279914" y="6012593"/>
                </a:lnTo>
                <a:lnTo>
                  <a:pt x="0" y="601259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1833941" y="3502384"/>
            <a:ext cx="1450416" cy="7769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181"/>
              </a:lnSpc>
            </a:pPr>
            <a:r>
              <a:rPr lang="en-US" sz="5150" b="1">
                <a:solidFill>
                  <a:srgbClr val="072F7D"/>
                </a:solidFill>
                <a:latin typeface="Lato Heavy"/>
                <a:ea typeface="Lato Heavy"/>
                <a:cs typeface="Lato Heavy"/>
                <a:sym typeface="Lato Heavy"/>
              </a:rPr>
              <a:t>Olist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845232" y="4445680"/>
            <a:ext cx="3000195" cy="17489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784"/>
              </a:lnSpc>
            </a:pPr>
            <a:r>
              <a:rPr lang="en-US" sz="11485" b="1">
                <a:solidFill>
                  <a:srgbClr val="FB7B12"/>
                </a:solidFill>
                <a:latin typeface="Lato Heavy"/>
                <a:ea typeface="Lato Heavy"/>
                <a:cs typeface="Lato Heavy"/>
                <a:sym typeface="Lato Heavy"/>
              </a:rPr>
              <a:t>97%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817481" y="6205095"/>
            <a:ext cx="5775354" cy="17686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27"/>
              </a:lnSpc>
            </a:pPr>
            <a:r>
              <a:rPr lang="en-US" sz="3637">
                <a:solidFill>
                  <a:srgbClr val="072F7D"/>
                </a:solidFill>
                <a:latin typeface="Lato"/>
                <a:ea typeface="Lato"/>
                <a:cs typeface="Lato"/>
                <a:sym typeface="Lato"/>
              </a:rPr>
              <a:t>khách hàng chỉ mua một lần; phân hóa nổi bật ở chi tiêu,</a:t>
            </a:r>
          </a:p>
          <a:p>
            <a:pPr algn="l">
              <a:lnSpc>
                <a:spcPts val="4727"/>
              </a:lnSpc>
            </a:pPr>
            <a:r>
              <a:rPr lang="en-US" sz="3637">
                <a:solidFill>
                  <a:srgbClr val="072F7D"/>
                </a:solidFill>
                <a:latin typeface="Lato"/>
                <a:ea typeface="Lato"/>
                <a:cs typeface="Lato"/>
                <a:sym typeface="Lato"/>
              </a:rPr>
              <a:t>phí vận chuyển và giao trễ.</a:t>
            </a:r>
          </a:p>
        </p:txBody>
      </p:sp>
      <p:sp>
        <p:nvSpPr>
          <p:cNvPr id="10" name="Freeform 10"/>
          <p:cNvSpPr/>
          <p:nvPr/>
        </p:nvSpPr>
        <p:spPr>
          <a:xfrm>
            <a:off x="9351818" y="2776725"/>
            <a:ext cx="8072096" cy="6012593"/>
          </a:xfrm>
          <a:custGeom>
            <a:avLst/>
            <a:gdLst/>
            <a:ahLst/>
            <a:cxnLst/>
            <a:rect l="l" t="t" r="r" b="b"/>
            <a:pathLst>
              <a:path w="8072096" h="6012593">
                <a:moveTo>
                  <a:pt x="0" y="0"/>
                </a:moveTo>
                <a:lnTo>
                  <a:pt x="8072096" y="0"/>
                </a:lnTo>
                <a:lnTo>
                  <a:pt x="8072096" y="6012593"/>
                </a:lnTo>
                <a:lnTo>
                  <a:pt x="0" y="601259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10134885" y="3502384"/>
            <a:ext cx="4495888" cy="7769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181"/>
              </a:lnSpc>
            </a:pPr>
            <a:r>
              <a:rPr lang="en-US" sz="5150" b="1">
                <a:solidFill>
                  <a:srgbClr val="072F7D"/>
                </a:solidFill>
                <a:latin typeface="Lato Heavy"/>
                <a:ea typeface="Lato Heavy"/>
                <a:cs typeface="Lato Heavy"/>
                <a:sym typeface="Lato Heavy"/>
              </a:rPr>
              <a:t>Online Retail II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143322" y="4445680"/>
            <a:ext cx="6331072" cy="17489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784"/>
              </a:lnSpc>
            </a:pPr>
            <a:r>
              <a:rPr lang="en-US" sz="11485" b="1">
                <a:solidFill>
                  <a:srgbClr val="FB7B12"/>
                </a:solidFill>
                <a:latin typeface="Lato Heavy"/>
                <a:ea typeface="Lato Heavy"/>
                <a:cs typeface="Lato Heavy"/>
                <a:sym typeface="Lato Heavy"/>
              </a:rPr>
              <a:t>Hơn 70%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150033" y="6270818"/>
            <a:ext cx="5660028" cy="17070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84"/>
              </a:lnSpc>
            </a:pPr>
            <a:r>
              <a:rPr lang="en-US" sz="3526">
                <a:solidFill>
                  <a:srgbClr val="072F7D"/>
                </a:solidFill>
                <a:latin typeface="Lato"/>
                <a:ea typeface="Lato"/>
                <a:cs typeface="Lato"/>
                <a:sym typeface="Lato"/>
              </a:rPr>
              <a:t>khách hàng mua lặp lại;</a:t>
            </a:r>
          </a:p>
          <a:p>
            <a:pPr algn="l">
              <a:lnSpc>
                <a:spcPts val="4584"/>
              </a:lnSpc>
            </a:pPr>
            <a:r>
              <a:rPr lang="en-US" sz="3526">
                <a:solidFill>
                  <a:srgbClr val="072F7D"/>
                </a:solidFill>
                <a:latin typeface="Lato"/>
                <a:ea typeface="Lato"/>
                <a:cs typeface="Lato"/>
                <a:sym typeface="Lato"/>
              </a:rPr>
              <a:t>Frequency hổ trợ phân khúc</a:t>
            </a:r>
          </a:p>
          <a:p>
            <a:pPr algn="l">
              <a:lnSpc>
                <a:spcPts val="4584"/>
              </a:lnSpc>
            </a:pPr>
            <a:r>
              <a:rPr lang="en-US" sz="3526">
                <a:solidFill>
                  <a:srgbClr val="072F7D"/>
                </a:solidFill>
                <a:latin typeface="Lato"/>
                <a:ea typeface="Lato"/>
                <a:cs typeface="Lato"/>
                <a:sym typeface="Lato"/>
              </a:rPr>
              <a:t>RFM truyền thống.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3497244" y="0"/>
            <a:ext cx="4790756" cy="2579949"/>
          </a:xfrm>
          <a:custGeom>
            <a:avLst/>
            <a:gdLst/>
            <a:ahLst/>
            <a:cxnLst/>
            <a:rect l="l" t="t" r="r" b="b"/>
            <a:pathLst>
              <a:path w="4790756" h="2579949">
                <a:moveTo>
                  <a:pt x="0" y="0"/>
                </a:moveTo>
                <a:lnTo>
                  <a:pt x="4790756" y="0"/>
                </a:lnTo>
                <a:lnTo>
                  <a:pt x="4790756" y="2579949"/>
                </a:lnTo>
                <a:lnTo>
                  <a:pt x="0" y="2579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6319196" y="0"/>
            <a:ext cx="1968804" cy="2153601"/>
          </a:xfrm>
          <a:custGeom>
            <a:avLst/>
            <a:gdLst/>
            <a:ahLst/>
            <a:cxnLst/>
            <a:rect l="l" t="t" r="r" b="b"/>
            <a:pathLst>
              <a:path w="1968804" h="2153601">
                <a:moveTo>
                  <a:pt x="0" y="0"/>
                </a:moveTo>
                <a:lnTo>
                  <a:pt x="1968804" y="0"/>
                </a:lnTo>
                <a:lnTo>
                  <a:pt x="1968804" y="2153601"/>
                </a:lnTo>
                <a:lnTo>
                  <a:pt x="0" y="215360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0" y="7280704"/>
            <a:ext cx="4364182" cy="3006296"/>
          </a:xfrm>
          <a:custGeom>
            <a:avLst/>
            <a:gdLst/>
            <a:ahLst/>
            <a:cxnLst/>
            <a:rect l="l" t="t" r="r" b="b"/>
            <a:pathLst>
              <a:path w="4364182" h="3006296">
                <a:moveTo>
                  <a:pt x="0" y="0"/>
                </a:moveTo>
                <a:lnTo>
                  <a:pt x="4364182" y="0"/>
                </a:lnTo>
                <a:lnTo>
                  <a:pt x="4364182" y="3006296"/>
                </a:lnTo>
                <a:lnTo>
                  <a:pt x="0" y="300629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978399" y="1488373"/>
            <a:ext cx="11995239" cy="8301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264"/>
              </a:lnSpc>
            </a:pPr>
            <a:r>
              <a:rPr lang="en-US" sz="6264" b="1" spc="-125">
                <a:solidFill>
                  <a:srgbClr val="063284"/>
                </a:solidFill>
                <a:latin typeface="Lato Bold"/>
                <a:ea typeface="Lato Bold"/>
                <a:cs typeface="Lato Bold"/>
                <a:sym typeface="Lato Bold"/>
              </a:rPr>
              <a:t>Biến phân khúc thành hành động</a:t>
            </a:r>
          </a:p>
        </p:txBody>
      </p:sp>
      <p:sp>
        <p:nvSpPr>
          <p:cNvPr id="7" name="Freeform 7"/>
          <p:cNvSpPr/>
          <p:nvPr/>
        </p:nvSpPr>
        <p:spPr>
          <a:xfrm>
            <a:off x="1957866" y="2569017"/>
            <a:ext cx="2614134" cy="2579949"/>
          </a:xfrm>
          <a:custGeom>
            <a:avLst/>
            <a:gdLst/>
            <a:ahLst/>
            <a:cxnLst/>
            <a:rect l="l" t="t" r="r" b="b"/>
            <a:pathLst>
              <a:path w="2614134" h="2579949">
                <a:moveTo>
                  <a:pt x="0" y="0"/>
                </a:moveTo>
                <a:lnTo>
                  <a:pt x="2614134" y="0"/>
                </a:lnTo>
                <a:lnTo>
                  <a:pt x="2614134" y="2579949"/>
                </a:lnTo>
                <a:lnTo>
                  <a:pt x="0" y="257994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3915732" y="3421712"/>
            <a:ext cx="2625072" cy="1300906"/>
          </a:xfrm>
          <a:custGeom>
            <a:avLst/>
            <a:gdLst/>
            <a:ahLst/>
            <a:cxnLst/>
            <a:rect l="l" t="t" r="r" b="b"/>
            <a:pathLst>
              <a:path w="2625072" h="1300906">
                <a:moveTo>
                  <a:pt x="0" y="0"/>
                </a:moveTo>
                <a:lnTo>
                  <a:pt x="2625072" y="0"/>
                </a:lnTo>
                <a:lnTo>
                  <a:pt x="2625072" y="1300906"/>
                </a:lnTo>
                <a:lnTo>
                  <a:pt x="0" y="130090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1125683" y="5241463"/>
            <a:ext cx="5303576" cy="13516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84"/>
              </a:lnSpc>
            </a:pPr>
            <a:r>
              <a:rPr lang="en-US" sz="2488" b="1" spc="-49">
                <a:solidFill>
                  <a:srgbClr val="063284"/>
                </a:solidFill>
                <a:latin typeface="Lato Bold"/>
                <a:ea typeface="Lato Bold"/>
                <a:cs typeface="Lato Bold"/>
                <a:sym typeface="Lato Bold"/>
              </a:rPr>
              <a:t>1. Cảnh báo sớm đơn có</a:t>
            </a:r>
          </a:p>
          <a:p>
            <a:pPr algn="l">
              <a:lnSpc>
                <a:spcPts val="3484"/>
              </a:lnSpc>
            </a:pPr>
            <a:r>
              <a:rPr lang="en-US" sz="2488" b="1" spc="-49">
                <a:solidFill>
                  <a:srgbClr val="063284"/>
                </a:solidFill>
                <a:latin typeface="Lato Bold"/>
                <a:ea typeface="Lato Bold"/>
                <a:cs typeface="Lato Bold"/>
                <a:sym typeface="Lato Bold"/>
              </a:rPr>
              <a:t>nguy cơ lưu kho lâu; chủ động</a:t>
            </a:r>
          </a:p>
          <a:p>
            <a:pPr algn="l">
              <a:lnSpc>
                <a:spcPts val="3484"/>
              </a:lnSpc>
            </a:pPr>
            <a:r>
              <a:rPr lang="en-US" sz="2488" b="1" spc="-49">
                <a:solidFill>
                  <a:srgbClr val="063284"/>
                </a:solidFill>
                <a:latin typeface="Lato Bold"/>
                <a:ea typeface="Lato Bold"/>
                <a:cs typeface="Lato Bold"/>
                <a:sym typeface="Lato Bold"/>
              </a:rPr>
              <a:t>liên hệ khi vượt ngày giao dự kiến.</a:t>
            </a:r>
          </a:p>
        </p:txBody>
      </p:sp>
      <p:sp>
        <p:nvSpPr>
          <p:cNvPr id="10" name="Freeform 10"/>
          <p:cNvSpPr/>
          <p:nvPr/>
        </p:nvSpPr>
        <p:spPr>
          <a:xfrm>
            <a:off x="7831464" y="2569017"/>
            <a:ext cx="2625072" cy="2579949"/>
          </a:xfrm>
          <a:custGeom>
            <a:avLst/>
            <a:gdLst/>
            <a:ahLst/>
            <a:cxnLst/>
            <a:rect l="l" t="t" r="r" b="b"/>
            <a:pathLst>
              <a:path w="2625072" h="2579949">
                <a:moveTo>
                  <a:pt x="0" y="0"/>
                </a:moveTo>
                <a:lnTo>
                  <a:pt x="2625072" y="0"/>
                </a:lnTo>
                <a:lnTo>
                  <a:pt x="2625072" y="2579949"/>
                </a:lnTo>
                <a:lnTo>
                  <a:pt x="0" y="257994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8767650" y="3362795"/>
            <a:ext cx="672153" cy="12980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45"/>
              </a:lnSpc>
            </a:pPr>
            <a:r>
              <a:rPr lang="en-US" sz="9745" b="1" spc="-195">
                <a:solidFill>
                  <a:srgbClr val="FD8028"/>
                </a:solidFill>
                <a:latin typeface="Lato Bold"/>
                <a:ea typeface="Lato Bold"/>
                <a:cs typeface="Lato Bold"/>
                <a:sym typeface="Lato Bold"/>
              </a:rPr>
              <a:t>2</a:t>
            </a:r>
          </a:p>
        </p:txBody>
      </p:sp>
      <p:sp>
        <p:nvSpPr>
          <p:cNvPr id="12" name="Freeform 12"/>
          <p:cNvSpPr/>
          <p:nvPr/>
        </p:nvSpPr>
        <p:spPr>
          <a:xfrm>
            <a:off x="6092354" y="3421712"/>
            <a:ext cx="2625072" cy="1300906"/>
          </a:xfrm>
          <a:custGeom>
            <a:avLst/>
            <a:gdLst/>
            <a:ahLst/>
            <a:cxnLst/>
            <a:rect l="l" t="t" r="r" b="b"/>
            <a:pathLst>
              <a:path w="2625072" h="1300906">
                <a:moveTo>
                  <a:pt x="0" y="0"/>
                </a:moveTo>
                <a:lnTo>
                  <a:pt x="2625072" y="0"/>
                </a:lnTo>
                <a:lnTo>
                  <a:pt x="2625072" y="1300906"/>
                </a:lnTo>
                <a:lnTo>
                  <a:pt x="0" y="130090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6973212" y="5260549"/>
            <a:ext cx="4552282" cy="1848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01"/>
              </a:lnSpc>
            </a:pPr>
            <a:r>
              <a:rPr lang="en-US" sz="2847" b="1" spc="-57">
                <a:solidFill>
                  <a:srgbClr val="063284"/>
                </a:solidFill>
                <a:latin typeface="Lato Bold"/>
                <a:ea typeface="Lato Bold"/>
                <a:cs typeface="Lato Bold"/>
                <a:sym typeface="Lato Bold"/>
              </a:rPr>
              <a:t>2. Hỗ trợ phí vận chuyển</a:t>
            </a:r>
          </a:p>
          <a:p>
            <a:pPr algn="l">
              <a:lnSpc>
                <a:spcPts val="3701"/>
              </a:lnSpc>
            </a:pPr>
            <a:r>
              <a:rPr lang="en-US" sz="2847" b="1" spc="-57">
                <a:solidFill>
                  <a:srgbClr val="063284"/>
                </a:solidFill>
                <a:latin typeface="Lato Bold"/>
                <a:ea typeface="Lato Bold"/>
                <a:cs typeface="Lato Bold"/>
                <a:sym typeface="Lato Bold"/>
              </a:rPr>
              <a:t>cho nhóm Freight-Sensitive và triển khai chương trình</a:t>
            </a:r>
          </a:p>
          <a:p>
            <a:pPr algn="l">
              <a:lnSpc>
                <a:spcPts val="3701"/>
              </a:lnSpc>
            </a:pPr>
            <a:r>
              <a:rPr lang="en-US" sz="2847" b="1" spc="-57">
                <a:solidFill>
                  <a:srgbClr val="063284"/>
                </a:solidFill>
                <a:latin typeface="Lato Bold"/>
                <a:ea typeface="Lato Bold"/>
                <a:cs typeface="Lato Bold"/>
                <a:sym typeface="Lato Bold"/>
              </a:rPr>
              <a:t>phù hợp với VIP Champions.</a:t>
            </a:r>
          </a:p>
        </p:txBody>
      </p:sp>
      <p:sp>
        <p:nvSpPr>
          <p:cNvPr id="14" name="Freeform 14"/>
          <p:cNvSpPr/>
          <p:nvPr/>
        </p:nvSpPr>
        <p:spPr>
          <a:xfrm>
            <a:off x="11965952" y="3421712"/>
            <a:ext cx="2625072" cy="1300906"/>
          </a:xfrm>
          <a:custGeom>
            <a:avLst/>
            <a:gdLst/>
            <a:ahLst/>
            <a:cxnLst/>
            <a:rect l="l" t="t" r="r" b="b"/>
            <a:pathLst>
              <a:path w="2625072" h="1300906">
                <a:moveTo>
                  <a:pt x="0" y="0"/>
                </a:moveTo>
                <a:lnTo>
                  <a:pt x="2625072" y="0"/>
                </a:lnTo>
                <a:lnTo>
                  <a:pt x="2625072" y="1300906"/>
                </a:lnTo>
                <a:lnTo>
                  <a:pt x="0" y="130090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13716000" y="2569017"/>
            <a:ext cx="2614134" cy="2579949"/>
          </a:xfrm>
          <a:custGeom>
            <a:avLst/>
            <a:gdLst/>
            <a:ahLst/>
            <a:cxnLst/>
            <a:rect l="l" t="t" r="r" b="b"/>
            <a:pathLst>
              <a:path w="2614134" h="2579949">
                <a:moveTo>
                  <a:pt x="0" y="0"/>
                </a:moveTo>
                <a:lnTo>
                  <a:pt x="2614134" y="0"/>
                </a:lnTo>
                <a:lnTo>
                  <a:pt x="2614134" y="2579949"/>
                </a:lnTo>
                <a:lnTo>
                  <a:pt x="0" y="2579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</p:sp>
      <p:sp>
        <p:nvSpPr>
          <p:cNvPr id="16" name="TextBox 16"/>
          <p:cNvSpPr txBox="1"/>
          <p:nvPr/>
        </p:nvSpPr>
        <p:spPr>
          <a:xfrm>
            <a:off x="14656780" y="3377856"/>
            <a:ext cx="681082" cy="12980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45"/>
              </a:lnSpc>
            </a:pPr>
            <a:r>
              <a:rPr lang="en-US" sz="9745" b="1" spc="-195">
                <a:solidFill>
                  <a:srgbClr val="004AAD"/>
                </a:solidFill>
                <a:latin typeface="Lato Bold"/>
                <a:ea typeface="Lato Bold"/>
                <a:cs typeface="Lato Bold"/>
                <a:sym typeface="Lato Bold"/>
              </a:rPr>
              <a:t>3</a:t>
            </a:r>
          </a:p>
        </p:txBody>
      </p:sp>
      <p:sp>
        <p:nvSpPr>
          <p:cNvPr id="17" name="Freeform 17"/>
          <p:cNvSpPr/>
          <p:nvPr/>
        </p:nvSpPr>
        <p:spPr>
          <a:xfrm>
            <a:off x="13716000" y="3421712"/>
            <a:ext cx="3926670" cy="1300906"/>
          </a:xfrm>
          <a:custGeom>
            <a:avLst/>
            <a:gdLst/>
            <a:ahLst/>
            <a:cxnLst/>
            <a:rect l="l" t="t" r="r" b="b"/>
            <a:pathLst>
              <a:path w="3926670" h="1300906">
                <a:moveTo>
                  <a:pt x="0" y="0"/>
                </a:moveTo>
                <a:lnTo>
                  <a:pt x="3926670" y="0"/>
                </a:lnTo>
                <a:lnTo>
                  <a:pt x="3926670" y="1300906"/>
                </a:lnTo>
                <a:lnTo>
                  <a:pt x="0" y="1300906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12734742" y="5250951"/>
            <a:ext cx="4364084" cy="19275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29"/>
              </a:lnSpc>
            </a:pPr>
            <a:r>
              <a:rPr lang="en-US" sz="3023" b="1" spc="-60">
                <a:solidFill>
                  <a:srgbClr val="063284"/>
                </a:solidFill>
                <a:latin typeface="Lato Bold"/>
                <a:ea typeface="Lato Bold"/>
                <a:cs typeface="Lato Bold"/>
                <a:sym typeface="Lato Bold"/>
              </a:rPr>
              <a:t>3. Thử nghiệm email xin lỗi kèm voucher 15% với nhóm At-Risk, đo mở thư, CTR, chuyển đổi và CAC.</a:t>
            </a:r>
          </a:p>
        </p:txBody>
      </p:sp>
      <p:sp>
        <p:nvSpPr>
          <p:cNvPr id="19" name="Freeform 19"/>
          <p:cNvSpPr/>
          <p:nvPr/>
        </p:nvSpPr>
        <p:spPr>
          <a:xfrm>
            <a:off x="0" y="7499343"/>
            <a:ext cx="17642670" cy="1716322"/>
          </a:xfrm>
          <a:custGeom>
            <a:avLst/>
            <a:gdLst/>
            <a:ahLst/>
            <a:cxnLst/>
            <a:rect l="l" t="t" r="r" b="b"/>
            <a:pathLst>
              <a:path w="17642670" h="1716322">
                <a:moveTo>
                  <a:pt x="0" y="0"/>
                </a:moveTo>
                <a:lnTo>
                  <a:pt x="17642670" y="0"/>
                </a:lnTo>
                <a:lnTo>
                  <a:pt x="17642670" y="1716322"/>
                </a:lnTo>
                <a:lnTo>
                  <a:pt x="0" y="1716322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</p:sp>
      <p:sp>
        <p:nvSpPr>
          <p:cNvPr id="20" name="TextBox 20"/>
          <p:cNvSpPr txBox="1"/>
          <p:nvPr/>
        </p:nvSpPr>
        <p:spPr>
          <a:xfrm>
            <a:off x="3454924" y="8061714"/>
            <a:ext cx="12215400" cy="547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176"/>
              </a:lnSpc>
            </a:pPr>
            <a:r>
              <a:rPr lang="en-US" sz="4176" b="1" spc="-83">
                <a:solidFill>
                  <a:srgbClr val="FD8028"/>
                </a:solidFill>
                <a:latin typeface="Lato Bold"/>
                <a:ea typeface="Lato Bold"/>
                <a:cs typeface="Lato Bold"/>
                <a:sym typeface="Lato Bold"/>
              </a:rPr>
              <a:t>Từ phát hiện dữ liệu đến can thiệp có thể đo lường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3007987" y="3362795"/>
            <a:ext cx="457871" cy="12980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45"/>
              </a:lnSpc>
            </a:pPr>
            <a:r>
              <a:rPr lang="en-US" sz="9745" b="1" spc="-195">
                <a:solidFill>
                  <a:srgbClr val="004AAD"/>
                </a:solidFill>
                <a:latin typeface="Lato Bold"/>
                <a:ea typeface="Lato Bold"/>
                <a:cs typeface="Lato Bold"/>
                <a:sym typeface="Lato Bold"/>
              </a:rPr>
              <a:t>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3923818" y="0"/>
            <a:ext cx="4364182" cy="10287000"/>
          </a:xfrm>
          <a:custGeom>
            <a:avLst/>
            <a:gdLst/>
            <a:ahLst/>
            <a:cxnLst/>
            <a:rect l="l" t="t" r="r" b="b"/>
            <a:pathLst>
              <a:path w="4364182" h="10287000">
                <a:moveTo>
                  <a:pt x="0" y="0"/>
                </a:moveTo>
                <a:lnTo>
                  <a:pt x="4364182" y="0"/>
                </a:lnTo>
                <a:lnTo>
                  <a:pt x="4364182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5017598" y="852695"/>
            <a:ext cx="3270402" cy="8362970"/>
          </a:xfrm>
          <a:custGeom>
            <a:avLst/>
            <a:gdLst/>
            <a:ahLst/>
            <a:cxnLst/>
            <a:rect l="l" t="t" r="r" b="b"/>
            <a:pathLst>
              <a:path w="3270402" h="8362970">
                <a:moveTo>
                  <a:pt x="0" y="0"/>
                </a:moveTo>
                <a:lnTo>
                  <a:pt x="3270402" y="0"/>
                </a:lnTo>
                <a:lnTo>
                  <a:pt x="3270402" y="8362970"/>
                </a:lnTo>
                <a:lnTo>
                  <a:pt x="0" y="836297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6319196" y="2142670"/>
            <a:ext cx="1968804" cy="2579949"/>
          </a:xfrm>
          <a:custGeom>
            <a:avLst/>
            <a:gdLst/>
            <a:ahLst/>
            <a:cxnLst/>
            <a:rect l="l" t="t" r="r" b="b"/>
            <a:pathLst>
              <a:path w="1968804" h="2579949">
                <a:moveTo>
                  <a:pt x="0" y="0"/>
                </a:moveTo>
                <a:lnTo>
                  <a:pt x="1968804" y="0"/>
                </a:lnTo>
                <a:lnTo>
                  <a:pt x="1968804" y="2579948"/>
                </a:lnTo>
                <a:lnTo>
                  <a:pt x="0" y="257994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6975464" y="4711687"/>
            <a:ext cx="667206" cy="655919"/>
          </a:xfrm>
          <a:custGeom>
            <a:avLst/>
            <a:gdLst/>
            <a:ahLst/>
            <a:cxnLst/>
            <a:rect l="l" t="t" r="r" b="b"/>
            <a:pathLst>
              <a:path w="667206" h="655919">
                <a:moveTo>
                  <a:pt x="0" y="0"/>
                </a:moveTo>
                <a:lnTo>
                  <a:pt x="667206" y="0"/>
                </a:lnTo>
                <a:lnTo>
                  <a:pt x="667206" y="655919"/>
                </a:lnTo>
                <a:lnTo>
                  <a:pt x="0" y="65591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6756708" y="5356674"/>
            <a:ext cx="1531292" cy="2361309"/>
          </a:xfrm>
          <a:custGeom>
            <a:avLst/>
            <a:gdLst/>
            <a:ahLst/>
            <a:cxnLst/>
            <a:rect l="l" t="t" r="r" b="b"/>
            <a:pathLst>
              <a:path w="1531292" h="2361309">
                <a:moveTo>
                  <a:pt x="0" y="0"/>
                </a:moveTo>
                <a:lnTo>
                  <a:pt x="1531292" y="0"/>
                </a:lnTo>
                <a:lnTo>
                  <a:pt x="1531292" y="2361309"/>
                </a:lnTo>
                <a:lnTo>
                  <a:pt x="0" y="236130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0" y="7707051"/>
            <a:ext cx="3707914" cy="2579949"/>
          </a:xfrm>
          <a:custGeom>
            <a:avLst/>
            <a:gdLst/>
            <a:ahLst/>
            <a:cxnLst/>
            <a:rect l="l" t="t" r="r" b="b"/>
            <a:pathLst>
              <a:path w="3707914" h="2579949">
                <a:moveTo>
                  <a:pt x="0" y="0"/>
                </a:moveTo>
                <a:lnTo>
                  <a:pt x="3707914" y="0"/>
                </a:lnTo>
                <a:lnTo>
                  <a:pt x="3707914" y="2579949"/>
                </a:lnTo>
                <a:lnTo>
                  <a:pt x="0" y="257994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2384440" y="2995365"/>
            <a:ext cx="1542230" cy="1508614"/>
          </a:xfrm>
          <a:custGeom>
            <a:avLst/>
            <a:gdLst/>
            <a:ahLst/>
            <a:cxnLst/>
            <a:rect l="l" t="t" r="r" b="b"/>
            <a:pathLst>
              <a:path w="1542230" h="1508614">
                <a:moveTo>
                  <a:pt x="0" y="0"/>
                </a:moveTo>
                <a:lnTo>
                  <a:pt x="1542230" y="0"/>
                </a:lnTo>
                <a:lnTo>
                  <a:pt x="1542230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7175196" y="2995365"/>
            <a:ext cx="1760986" cy="1508614"/>
          </a:xfrm>
          <a:custGeom>
            <a:avLst/>
            <a:gdLst/>
            <a:ahLst/>
            <a:cxnLst/>
            <a:rect l="l" t="t" r="r" b="b"/>
            <a:pathLst>
              <a:path w="1760986" h="1508614">
                <a:moveTo>
                  <a:pt x="0" y="0"/>
                </a:moveTo>
                <a:lnTo>
                  <a:pt x="1760986" y="0"/>
                </a:lnTo>
                <a:lnTo>
                  <a:pt x="1760986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12184708" y="2995365"/>
            <a:ext cx="1750048" cy="1508614"/>
          </a:xfrm>
          <a:custGeom>
            <a:avLst/>
            <a:gdLst/>
            <a:ahLst/>
            <a:cxnLst/>
            <a:rect l="l" t="t" r="r" b="b"/>
            <a:pathLst>
              <a:path w="1750048" h="1508614">
                <a:moveTo>
                  <a:pt x="0" y="0"/>
                </a:moveTo>
                <a:lnTo>
                  <a:pt x="1750048" y="0"/>
                </a:lnTo>
                <a:lnTo>
                  <a:pt x="1750048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2570330" y="1408927"/>
            <a:ext cx="10857596" cy="9911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869"/>
              </a:lnSpc>
            </a:pPr>
            <a:r>
              <a:rPr lang="en-US" sz="6556" b="1">
                <a:solidFill>
                  <a:srgbClr val="043B87"/>
                </a:solidFill>
                <a:latin typeface="Lato Bold"/>
                <a:ea typeface="Lato Bold"/>
                <a:cs typeface="Lato Bold"/>
                <a:sym typeface="Lato Bold"/>
              </a:rPr>
              <a:t>Kết luận và hướng phát triển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95686" y="4699241"/>
            <a:ext cx="4119596" cy="17118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11"/>
              </a:lnSpc>
            </a:pPr>
            <a:r>
              <a:rPr lang="en-US" sz="2601" b="1">
                <a:solidFill>
                  <a:srgbClr val="043B87"/>
                </a:solidFill>
                <a:latin typeface="Lato Bold"/>
                <a:ea typeface="Lato Bold"/>
                <a:cs typeface="Lato Bold"/>
                <a:sym typeface="Lato Bold"/>
              </a:rPr>
              <a:t>Mô hình kết hợp RFM và</a:t>
            </a:r>
          </a:p>
          <a:p>
            <a:pPr algn="ctr">
              <a:lnSpc>
                <a:spcPts val="3511"/>
              </a:lnSpc>
            </a:pPr>
            <a:r>
              <a:rPr lang="en-US" sz="2601" b="1">
                <a:solidFill>
                  <a:srgbClr val="043B87"/>
                </a:solidFill>
                <a:latin typeface="Lato Bold"/>
                <a:ea typeface="Lato Bold"/>
                <a:cs typeface="Lato Bold"/>
                <a:sym typeface="Lato Bold"/>
              </a:rPr>
              <a:t>trải nghiệm dịch vụ giúp</a:t>
            </a:r>
          </a:p>
          <a:p>
            <a:pPr algn="ctr">
              <a:lnSpc>
                <a:spcPts val="3511"/>
              </a:lnSpc>
            </a:pPr>
            <a:r>
              <a:rPr lang="en-US" sz="2601" b="1">
                <a:solidFill>
                  <a:srgbClr val="043B87"/>
                </a:solidFill>
                <a:latin typeface="Lato Bold"/>
                <a:ea typeface="Lato Bold"/>
                <a:cs typeface="Lato Bold"/>
                <a:sym typeface="Lato Bold"/>
              </a:rPr>
              <a:t>nhận diện bốn nhóm khách</a:t>
            </a:r>
          </a:p>
          <a:p>
            <a:pPr algn="ctr">
              <a:lnSpc>
                <a:spcPts val="3511"/>
              </a:lnSpc>
            </a:pPr>
            <a:r>
              <a:rPr lang="en-US" sz="2601" b="1">
                <a:solidFill>
                  <a:srgbClr val="043B87"/>
                </a:solidFill>
                <a:latin typeface="Lato Bold"/>
                <a:ea typeface="Lato Bold"/>
                <a:cs typeface="Lato Bold"/>
                <a:sym typeface="Lato Bold"/>
              </a:rPr>
              <a:t>hàng có nhu cầu khác nhau.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287704" y="4699241"/>
            <a:ext cx="3624475" cy="17118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11"/>
              </a:lnSpc>
            </a:pPr>
            <a:r>
              <a:rPr lang="en-US" sz="2601" b="1">
                <a:solidFill>
                  <a:srgbClr val="043B87"/>
                </a:solidFill>
                <a:latin typeface="Lato Bold"/>
                <a:ea typeface="Lato Bold"/>
                <a:cs typeface="Lato Bold"/>
                <a:sym typeface="Lato Bold"/>
              </a:rPr>
              <a:t>Kết quả nhấn mạnh giao</a:t>
            </a:r>
          </a:p>
          <a:p>
            <a:pPr algn="ctr">
              <a:lnSpc>
                <a:spcPts val="3511"/>
              </a:lnSpc>
            </a:pPr>
            <a:r>
              <a:rPr lang="en-US" sz="2601" b="1">
                <a:solidFill>
                  <a:srgbClr val="043B87"/>
                </a:solidFill>
                <a:latin typeface="Lato Bold"/>
                <a:ea typeface="Lato Bold"/>
                <a:cs typeface="Lato Bold"/>
                <a:sym typeface="Lato Bold"/>
              </a:rPr>
              <a:t>hàng đúng hẹn là yếu tố</a:t>
            </a:r>
          </a:p>
          <a:p>
            <a:pPr algn="ctr">
              <a:lnSpc>
                <a:spcPts val="3511"/>
              </a:lnSpc>
            </a:pPr>
            <a:r>
              <a:rPr lang="en-US" sz="2601" b="1">
                <a:solidFill>
                  <a:srgbClr val="043B87"/>
                </a:solidFill>
                <a:latin typeface="Lato Bold"/>
                <a:ea typeface="Lato Bold"/>
                <a:cs typeface="Lato Bold"/>
                <a:sym typeface="Lato Bold"/>
              </a:rPr>
              <a:t>quan trọng gắn với trải</a:t>
            </a:r>
          </a:p>
          <a:p>
            <a:pPr algn="ctr">
              <a:lnSpc>
                <a:spcPts val="3511"/>
              </a:lnSpc>
            </a:pPr>
            <a:r>
              <a:rPr lang="en-US" sz="2601" b="1">
                <a:solidFill>
                  <a:srgbClr val="043B87"/>
                </a:solidFill>
                <a:latin typeface="Lato Bold"/>
                <a:ea typeface="Lato Bold"/>
                <a:cs typeface="Lato Bold"/>
                <a:sym typeface="Lato Bold"/>
              </a:rPr>
              <a:t>nghiệm khách hàng.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0812687" y="4699241"/>
            <a:ext cx="4563078" cy="17118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11"/>
              </a:lnSpc>
            </a:pPr>
            <a:r>
              <a:rPr lang="en-US" sz="2601" b="1">
                <a:solidFill>
                  <a:srgbClr val="043B87"/>
                </a:solidFill>
                <a:latin typeface="Lato Bold"/>
                <a:ea typeface="Lato Bold"/>
                <a:cs typeface="Lato Bold"/>
                <a:sym typeface="Lato Bold"/>
              </a:rPr>
              <a:t>Bước tiếp theo là kiểm định</a:t>
            </a:r>
          </a:p>
          <a:p>
            <a:pPr algn="ctr">
              <a:lnSpc>
                <a:spcPts val="3511"/>
              </a:lnSpc>
            </a:pPr>
            <a:r>
              <a:rPr lang="en-US" sz="2601" b="1">
                <a:solidFill>
                  <a:srgbClr val="043B87"/>
                </a:solidFill>
                <a:latin typeface="Lato Bold"/>
                <a:ea typeface="Lato Bold"/>
                <a:cs typeface="Lato Bold"/>
                <a:sym typeface="Lato Bold"/>
              </a:rPr>
              <a:t>các can thiệp bằng thử</a:t>
            </a:r>
          </a:p>
          <a:p>
            <a:pPr algn="ctr">
              <a:lnSpc>
                <a:spcPts val="3511"/>
              </a:lnSpc>
            </a:pPr>
            <a:r>
              <a:rPr lang="en-US" sz="2601" b="1">
                <a:solidFill>
                  <a:srgbClr val="043B87"/>
                </a:solidFill>
                <a:latin typeface="Lato Bold"/>
                <a:ea typeface="Lato Bold"/>
                <a:cs typeface="Lato Bold"/>
                <a:sym typeface="Lato Bold"/>
              </a:rPr>
              <a:t>nghiệm A/B và theo dõi</a:t>
            </a:r>
          </a:p>
          <a:p>
            <a:pPr algn="ctr">
              <a:lnSpc>
                <a:spcPts val="3511"/>
              </a:lnSpc>
            </a:pPr>
            <a:r>
              <a:rPr lang="en-US" sz="2601" b="1">
                <a:solidFill>
                  <a:srgbClr val="043B87"/>
                </a:solidFill>
                <a:latin typeface="Lato Bold"/>
                <a:ea typeface="Lato Bold"/>
                <a:cs typeface="Lato Bold"/>
                <a:sym typeface="Lato Bold"/>
              </a:rPr>
              <a:t>hiệu quả theo từng phân khúc.</a:t>
            </a:r>
          </a:p>
        </p:txBody>
      </p:sp>
      <p:sp>
        <p:nvSpPr>
          <p:cNvPr id="16" name="Freeform 16"/>
          <p:cNvSpPr/>
          <p:nvPr/>
        </p:nvSpPr>
        <p:spPr>
          <a:xfrm>
            <a:off x="2384440" y="6854356"/>
            <a:ext cx="12644096" cy="1508614"/>
          </a:xfrm>
          <a:custGeom>
            <a:avLst/>
            <a:gdLst/>
            <a:ahLst/>
            <a:cxnLst/>
            <a:rect l="l" t="t" r="r" b="b"/>
            <a:pathLst>
              <a:path w="12644096" h="1508614">
                <a:moveTo>
                  <a:pt x="0" y="0"/>
                </a:moveTo>
                <a:lnTo>
                  <a:pt x="12644096" y="0"/>
                </a:lnTo>
                <a:lnTo>
                  <a:pt x="12644096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</p:sp>
      <p:sp>
        <p:nvSpPr>
          <p:cNvPr id="17" name="TextBox 17"/>
          <p:cNvSpPr txBox="1"/>
          <p:nvPr/>
        </p:nvSpPr>
        <p:spPr>
          <a:xfrm>
            <a:off x="2901313" y="7295220"/>
            <a:ext cx="11342911" cy="6266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95"/>
              </a:lnSpc>
            </a:pPr>
            <a:r>
              <a:rPr lang="en-US" sz="3849" b="1" spc="-77">
                <a:solidFill>
                  <a:srgbClr val="FF7F23"/>
                </a:solidFill>
                <a:latin typeface="Lato Bold"/>
                <a:ea typeface="Lato Bold"/>
                <a:cs typeface="Lato Bold"/>
                <a:sym typeface="Lato Bold"/>
              </a:rPr>
              <a:t>Từ phân khúc dữ liệu đến hành động có thể đo lường.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841</Words>
  <Application>Microsoft Office PowerPoint</Application>
  <PresentationFormat>Tùy chỉnh</PresentationFormat>
  <Paragraphs>152</Paragraphs>
  <Slides>11</Slides>
  <Notes>0</Notes>
  <HiddenSlides>0</HiddenSlides>
  <MMClips>0</MMClips>
  <ScaleCrop>false</ScaleCrop>
  <HeadingPairs>
    <vt:vector size="6" baseType="variant">
      <vt:variant>
        <vt:lpstr>Phông được Dùng</vt:lpstr>
      </vt:variant>
      <vt:variant>
        <vt:i4>5</vt:i4>
      </vt:variant>
      <vt:variant>
        <vt:lpstr>Chủ đề</vt:lpstr>
      </vt:variant>
      <vt:variant>
        <vt:i4>1</vt:i4>
      </vt:variant>
      <vt:variant>
        <vt:lpstr>Tiêu đề Bản chiếu</vt:lpstr>
      </vt:variant>
      <vt:variant>
        <vt:i4>11</vt:i4>
      </vt:variant>
    </vt:vector>
  </HeadingPairs>
  <TitlesOfParts>
    <vt:vector size="17" baseType="lpstr">
      <vt:lpstr>Calibri</vt:lpstr>
      <vt:lpstr>Lato Heavy</vt:lpstr>
      <vt:lpstr>Lato Bold</vt:lpstr>
      <vt:lpstr>Lato</vt:lpstr>
      <vt:lpstr>Arial</vt:lpstr>
      <vt:lpstr>Office Theme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Phân khúc khách hàng Olist kết hợp RFM và trải nghiệm dịch vụ</dc:title>
  <cp:lastModifiedBy>Trần Duy Minh Phát</cp:lastModifiedBy>
  <cp:revision>2</cp:revision>
  <dcterms:created xsi:type="dcterms:W3CDTF">2006-08-16T00:00:00Z</dcterms:created>
  <dcterms:modified xsi:type="dcterms:W3CDTF">2026-10-26T10:24:21Z</dcterms:modified>
  <dc:identifier>DAHZGZ9i6mA</dc:identifier>
</cp:coreProperties>
</file>