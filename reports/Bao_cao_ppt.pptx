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ato Heavy" charset="1" panose="020F0502020204030203"/>
      <p:regular r:id="rId17"/>
    </p:embeddedFont>
    <p:embeddedFont>
      <p:font typeface="Lato Bold" charset="1" panose="020F0502020204030203"/>
      <p:regular r:id="rId18"/>
    </p:embeddedFont>
    <p:embeddedFont>
      <p:font typeface="Lato" charset="1" panose="020F05020202040302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png" Type="http://schemas.openxmlformats.org/officeDocument/2006/relationships/image"/><Relationship Id="rId11" Target="../media/image68.png" Type="http://schemas.openxmlformats.org/officeDocument/2006/relationships/image"/><Relationship Id="rId12" Target="../media/image69.png" Type="http://schemas.openxmlformats.org/officeDocument/2006/relationships/image"/><Relationship Id="rId13" Target="../media/image70.png" Type="http://schemas.openxmlformats.org/officeDocument/2006/relationships/image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61.png" Type="http://schemas.openxmlformats.org/officeDocument/2006/relationships/image"/><Relationship Id="rId5" Target="../media/image62.png" Type="http://schemas.openxmlformats.org/officeDocument/2006/relationships/image"/><Relationship Id="rId6" Target="../media/image63.png" Type="http://schemas.openxmlformats.org/officeDocument/2006/relationships/image"/><Relationship Id="rId7" Target="../media/image64.png" Type="http://schemas.openxmlformats.org/officeDocument/2006/relationships/image"/><Relationship Id="rId8" Target="../media/image65.pn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11" Target="../media/image80.png" Type="http://schemas.openxmlformats.org/officeDocument/2006/relationships/image"/><Relationship Id="rId12" Target="../media/image81.png" Type="http://schemas.openxmlformats.org/officeDocument/2006/relationships/image"/><Relationship Id="rId2" Target="../media/image71.png" Type="http://schemas.openxmlformats.org/officeDocument/2006/relationships/image"/><Relationship Id="rId3" Target="../media/image72.png" Type="http://schemas.openxmlformats.org/officeDocument/2006/relationships/image"/><Relationship Id="rId4" Target="../media/image73.png" Type="http://schemas.openxmlformats.org/officeDocument/2006/relationships/image"/><Relationship Id="rId5" Target="../media/image74.png" Type="http://schemas.openxmlformats.org/officeDocument/2006/relationships/image"/><Relationship Id="rId6" Target="../media/image75.png" Type="http://schemas.openxmlformats.org/officeDocument/2006/relationships/image"/><Relationship Id="rId7" Target="../media/image76.png" Type="http://schemas.openxmlformats.org/officeDocument/2006/relationships/image"/><Relationship Id="rId8" Target="../media/image77.png" Type="http://schemas.openxmlformats.org/officeDocument/2006/relationships/image"/><Relationship Id="rId9" Target="../media/image7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851914" cy="10287000"/>
          </a:xfrm>
          <a:custGeom>
            <a:avLst/>
            <a:gdLst/>
            <a:ahLst/>
            <a:cxnLst/>
            <a:rect r="r" b="b" t="t" l="l"/>
            <a:pathLst>
              <a:path h="10287000" w="12851914">
                <a:moveTo>
                  <a:pt x="0" y="0"/>
                </a:moveTo>
                <a:lnTo>
                  <a:pt x="12851914" y="0"/>
                </a:lnTo>
                <a:lnTo>
                  <a:pt x="12851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280704"/>
            <a:ext cx="4572000" cy="3006296"/>
          </a:xfrm>
          <a:custGeom>
            <a:avLst/>
            <a:gdLst/>
            <a:ahLst/>
            <a:cxnLst/>
            <a:rect r="r" b="b" t="t" l="l"/>
            <a:pathLst>
              <a:path h="3006296" w="4572000">
                <a:moveTo>
                  <a:pt x="0" y="0"/>
                </a:moveTo>
                <a:lnTo>
                  <a:pt x="4572000" y="0"/>
                </a:lnTo>
                <a:lnTo>
                  <a:pt x="4572000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83110" y="1705390"/>
            <a:ext cx="7404890" cy="8581610"/>
          </a:xfrm>
          <a:custGeom>
            <a:avLst/>
            <a:gdLst/>
            <a:ahLst/>
            <a:cxnLst/>
            <a:rect r="r" b="b" t="t" l="l"/>
            <a:pathLst>
              <a:path h="8581610" w="7404890">
                <a:moveTo>
                  <a:pt x="0" y="0"/>
                </a:moveTo>
                <a:lnTo>
                  <a:pt x="7404890" y="0"/>
                </a:lnTo>
                <a:lnTo>
                  <a:pt x="7404890" y="8581610"/>
                </a:lnTo>
                <a:lnTo>
                  <a:pt x="0" y="85816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84708" y="2569017"/>
            <a:ext cx="6103292" cy="6012593"/>
          </a:xfrm>
          <a:custGeom>
            <a:avLst/>
            <a:gdLst/>
            <a:ahLst/>
            <a:cxnLst/>
            <a:rect r="r" b="b" t="t" l="l"/>
            <a:pathLst>
              <a:path h="6012593" w="6103292">
                <a:moveTo>
                  <a:pt x="0" y="0"/>
                </a:moveTo>
                <a:lnTo>
                  <a:pt x="6103292" y="0"/>
                </a:lnTo>
                <a:lnTo>
                  <a:pt x="6103292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59054" y="1603178"/>
            <a:ext cx="11250841" cy="2951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3"/>
              </a:lnSpc>
            </a:pPr>
            <a:r>
              <a:rPr lang="en-US" sz="6626" b="true">
                <a:solidFill>
                  <a:srgbClr val="042F74"/>
                </a:solidFill>
                <a:latin typeface="Lato Heavy"/>
                <a:ea typeface="Lato Heavy"/>
                <a:cs typeface="Lato Heavy"/>
                <a:sym typeface="Lato Heavy"/>
              </a:rPr>
              <a:t>XÂY DỰNG MÔ HÌNH</a:t>
            </a:r>
          </a:p>
          <a:p>
            <a:pPr algn="l">
              <a:lnSpc>
                <a:spcPts val="7753"/>
              </a:lnSpc>
            </a:pPr>
            <a:r>
              <a:rPr lang="en-US" sz="6626" b="true">
                <a:solidFill>
                  <a:srgbClr val="042F74"/>
                </a:solidFill>
                <a:latin typeface="Lato Heavy"/>
                <a:ea typeface="Lato Heavy"/>
                <a:cs typeface="Lato Heavy"/>
                <a:sym typeface="Lato Heavy"/>
              </a:rPr>
              <a:t>PHÂN KHÚC KHÁCH HÀNG</a:t>
            </a:r>
          </a:p>
          <a:p>
            <a:pPr algn="l">
              <a:lnSpc>
                <a:spcPts val="7753"/>
              </a:lnSpc>
            </a:pPr>
            <a:r>
              <a:rPr lang="en-US" sz="6626" b="true">
                <a:solidFill>
                  <a:srgbClr val="042F74"/>
                </a:solidFill>
                <a:latin typeface="Lato Heavy"/>
                <a:ea typeface="Lato Heavy"/>
                <a:cs typeface="Lato Heavy"/>
                <a:sym typeface="Lato Heavy"/>
              </a:rPr>
              <a:t>E-COMMERCE OLIST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5853" y="4706275"/>
            <a:ext cx="9249878" cy="74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8"/>
              </a:lnSpc>
            </a:pPr>
            <a:r>
              <a:rPr lang="en-US" sz="4412" b="true">
                <a:solidFill>
                  <a:srgbClr val="F58634"/>
                </a:solidFill>
                <a:latin typeface="Lato Heavy"/>
                <a:ea typeface="Lato Heavy"/>
                <a:cs typeface="Lato Heavy"/>
                <a:sym typeface="Lato Heavy"/>
              </a:rPr>
              <a:t>Kết hợp RFM và trải nghiệm dịch vụ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4708" y="6084591"/>
            <a:ext cx="8043265" cy="841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2488" b="true">
                <a:solidFill>
                  <a:srgbClr val="042F74"/>
                </a:solidFill>
                <a:latin typeface="Lato Bold"/>
                <a:ea typeface="Lato Bold"/>
                <a:cs typeface="Lato Bold"/>
                <a:sym typeface="Lato Bold"/>
              </a:rPr>
              <a:t>Trường Đại học Công Thương Thành phố Hồ Chí Minh ·</a:t>
            </a:r>
          </a:p>
          <a:p>
            <a:pPr algn="l">
              <a:lnSpc>
                <a:spcPts val="3484"/>
              </a:lnSpc>
            </a:pPr>
            <a:r>
              <a:rPr lang="en-US" sz="2488" b="true">
                <a:solidFill>
                  <a:srgbClr val="042F74"/>
                </a:solidFill>
                <a:latin typeface="Lato Bold"/>
                <a:ea typeface="Lato Bold"/>
                <a:cs typeface="Lato Bold"/>
                <a:sym typeface="Lato Bold"/>
              </a:rPr>
              <a:t>Khoa Công nghệ thông tin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4107" y="7184255"/>
            <a:ext cx="9103337" cy="33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sz="2003">
                <a:solidFill>
                  <a:srgbClr val="042F74"/>
                </a:solidFill>
                <a:latin typeface="Lato"/>
                <a:ea typeface="Lato"/>
                <a:cs typeface="Lato"/>
                <a:sym typeface="Lato"/>
              </a:rPr>
              <a:t>Trần Duy Minh Phát · Huỳnh Bổ Bửu Quang · Phạm Quốc Ân · Tháng 10 /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280704"/>
            <a:ext cx="4364182" cy="3006296"/>
          </a:xfrm>
          <a:custGeom>
            <a:avLst/>
            <a:gdLst/>
            <a:ahLst/>
            <a:cxnLst/>
            <a:rect r="r" b="b" t="t" l="l"/>
            <a:pathLst>
              <a:path h="3006296" w="4364182">
                <a:moveTo>
                  <a:pt x="0" y="0"/>
                </a:moveTo>
                <a:lnTo>
                  <a:pt x="4364182" y="0"/>
                </a:lnTo>
                <a:lnTo>
                  <a:pt x="436418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20622" y="0"/>
            <a:ext cx="6967378" cy="6220301"/>
          </a:xfrm>
          <a:custGeom>
            <a:avLst/>
            <a:gdLst/>
            <a:ahLst/>
            <a:cxnLst/>
            <a:rect r="r" b="b" t="t" l="l"/>
            <a:pathLst>
              <a:path h="6220301" w="6967378">
                <a:moveTo>
                  <a:pt x="0" y="0"/>
                </a:moveTo>
                <a:lnTo>
                  <a:pt x="6967378" y="0"/>
                </a:lnTo>
                <a:lnTo>
                  <a:pt x="6967378" y="6220301"/>
                </a:lnTo>
                <a:lnTo>
                  <a:pt x="0" y="62203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45598" y="4919394"/>
            <a:ext cx="7842402" cy="5367606"/>
          </a:xfrm>
          <a:custGeom>
            <a:avLst/>
            <a:gdLst/>
            <a:ahLst/>
            <a:cxnLst/>
            <a:rect r="r" b="b" t="t" l="l"/>
            <a:pathLst>
              <a:path h="5367606" w="7842402">
                <a:moveTo>
                  <a:pt x="0" y="0"/>
                </a:moveTo>
                <a:lnTo>
                  <a:pt x="7842402" y="0"/>
                </a:lnTo>
                <a:lnTo>
                  <a:pt x="7842402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04657" y="1444489"/>
            <a:ext cx="9369447" cy="1856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6"/>
              </a:lnSpc>
            </a:pPr>
            <a:r>
              <a:rPr lang="en-US" sz="6839" b="true">
                <a:solidFill>
                  <a:srgbClr val="063682"/>
                </a:solidFill>
                <a:latin typeface="Lato Heavy"/>
                <a:ea typeface="Lato Heavy"/>
                <a:cs typeface="Lato Heavy"/>
                <a:sym typeface="Lato Heavy"/>
              </a:rPr>
              <a:t>Vì sao cần</a:t>
            </a:r>
          </a:p>
          <a:p>
            <a:pPr algn="l">
              <a:lnSpc>
                <a:spcPts val="7246"/>
              </a:lnSpc>
            </a:pPr>
            <a:r>
              <a:rPr lang="en-US" sz="6839" b="true">
                <a:solidFill>
                  <a:srgbClr val="063682"/>
                </a:solidFill>
                <a:latin typeface="Lato Heavy"/>
                <a:ea typeface="Lato Heavy"/>
                <a:cs typeface="Lato Heavy"/>
                <a:sym typeface="Lato Heavy"/>
              </a:rPr>
              <a:t>phân khúc khách hàng?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5050" y="3839105"/>
            <a:ext cx="9862161" cy="951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7204" indent="-328602" lvl="1">
              <a:lnSpc>
                <a:spcPts val="3898"/>
              </a:lnSpc>
              <a:buFont typeface="Arial"/>
              <a:buChar char="•"/>
            </a:pPr>
            <a:r>
              <a:rPr lang="en-US" b="true" sz="3045">
                <a:solidFill>
                  <a:srgbClr val="063682"/>
                </a:solidFill>
                <a:latin typeface="Lato Bold"/>
                <a:ea typeface="Lato Bold"/>
                <a:cs typeface="Lato Bold"/>
                <a:sym typeface="Lato Bold"/>
              </a:rPr>
              <a:t>Chi phí thu hút khách hàng mới thường cao gấp 5–7 lần chi phí giữ chân khách hàng hiện hữu.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1242" y="5119276"/>
            <a:ext cx="9243004" cy="951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7204" indent="-328602" lvl="1">
              <a:lnSpc>
                <a:spcPts val="3898"/>
              </a:lnSpc>
              <a:buFont typeface="Arial"/>
              <a:buChar char="•"/>
            </a:pPr>
            <a:r>
              <a:rPr lang="en-US" b="true" sz="3045">
                <a:solidFill>
                  <a:srgbClr val="063682"/>
                </a:solidFill>
                <a:latin typeface="Lato Bold"/>
                <a:ea typeface="Lato Bold"/>
                <a:cs typeface="Lato Bold"/>
                <a:sym typeface="Lato Bold"/>
              </a:rPr>
              <a:t>Tăng tỷ lệ giữ chân 5% có thể làm lợi nhuận tăng 25–95%.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4628" y="6384387"/>
            <a:ext cx="9904402" cy="951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7204" indent="-328602" lvl="1">
              <a:lnSpc>
                <a:spcPts val="3898"/>
              </a:lnSpc>
              <a:buFont typeface="Arial"/>
              <a:buChar char="•"/>
            </a:pPr>
            <a:r>
              <a:rPr lang="en-US" b="true" sz="3045">
                <a:solidFill>
                  <a:srgbClr val="063682"/>
                </a:solidFill>
                <a:latin typeface="Lato Bold"/>
                <a:ea typeface="Lato Bold"/>
                <a:cs typeface="Lato Bold"/>
                <a:sym typeface="Lato Bold"/>
              </a:rPr>
              <a:t>Olist có 96.096 khách hàng thực tế; 96,99% chỉ mua một lần trong giai đoạn khảo sát.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74721" y="1746089"/>
            <a:ext cx="2842757" cy="174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54"/>
              </a:lnSpc>
            </a:pPr>
            <a:r>
              <a:rPr lang="en-US" sz="12603" b="true">
                <a:solidFill>
                  <a:srgbClr val="F88431"/>
                </a:solidFill>
                <a:latin typeface="Lato Heavy"/>
                <a:ea typeface="Lato Heavy"/>
                <a:cs typeface="Lato Heavy"/>
                <a:sym typeface="Lato Heavy"/>
              </a:rPr>
              <a:t>5–7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02538" y="3468254"/>
            <a:ext cx="5590560" cy="495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73"/>
              </a:lnSpc>
            </a:pPr>
            <a:r>
              <a:rPr lang="en-US" sz="3181" b="true">
                <a:solidFill>
                  <a:srgbClr val="063682"/>
                </a:solidFill>
                <a:latin typeface="Lato Bold"/>
                <a:ea typeface="Lato Bold"/>
                <a:cs typeface="Lato Bold"/>
                <a:sym typeface="Lato Bold"/>
              </a:rPr>
              <a:t>Chi phí thu hút so với giữ chân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90212" y="2115381"/>
            <a:ext cx="1669243" cy="131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30"/>
              </a:lnSpc>
            </a:pPr>
            <a:r>
              <a:rPr lang="en-US" sz="9466" b="true">
                <a:solidFill>
                  <a:srgbClr val="F88431"/>
                </a:solidFill>
                <a:latin typeface="Lato Heavy"/>
                <a:ea typeface="Lato Heavy"/>
                <a:cs typeface="Lato Heavy"/>
                <a:sym typeface="Lato Heavy"/>
              </a:rPr>
              <a:t>lần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04049" y="6938978"/>
            <a:ext cx="5333044" cy="151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61"/>
              </a:lnSpc>
            </a:pPr>
            <a:r>
              <a:rPr lang="en-US" sz="10911" b="true">
                <a:solidFill>
                  <a:srgbClr val="F87519"/>
                </a:solidFill>
                <a:latin typeface="Lato Heavy"/>
                <a:ea typeface="Lato Heavy"/>
                <a:cs typeface="Lato Heavy"/>
                <a:sym typeface="Lato Heavy"/>
              </a:rPr>
              <a:t>25–95%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21109" y="8468453"/>
            <a:ext cx="5498924" cy="495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3181" b="true">
                <a:solidFill>
                  <a:srgbClr val="063682"/>
                </a:solidFill>
                <a:latin typeface="Lato Bold"/>
                <a:ea typeface="Lato Bold"/>
                <a:cs typeface="Lato Bold"/>
                <a:sym typeface="Lato Bold"/>
              </a:rPr>
              <a:t>Mức tăng lợi nhuận tiềm năng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707051"/>
            <a:ext cx="3051646" cy="2579949"/>
          </a:xfrm>
          <a:custGeom>
            <a:avLst/>
            <a:gdLst/>
            <a:ahLst/>
            <a:cxnLst/>
            <a:rect r="r" b="b" t="t" l="l"/>
            <a:pathLst>
              <a:path h="2579949" w="3051646">
                <a:moveTo>
                  <a:pt x="0" y="0"/>
                </a:moveTo>
                <a:lnTo>
                  <a:pt x="3051646" y="0"/>
                </a:lnTo>
                <a:lnTo>
                  <a:pt x="305164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39110" y="8778386"/>
            <a:ext cx="2832890" cy="1508614"/>
          </a:xfrm>
          <a:custGeom>
            <a:avLst/>
            <a:gdLst/>
            <a:ahLst/>
            <a:cxnLst/>
            <a:rect r="r" b="b" t="t" l="l"/>
            <a:pathLst>
              <a:path h="1508614" w="2832890">
                <a:moveTo>
                  <a:pt x="0" y="0"/>
                </a:moveTo>
                <a:lnTo>
                  <a:pt x="2832890" y="0"/>
                </a:lnTo>
                <a:lnTo>
                  <a:pt x="283289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23818" y="0"/>
            <a:ext cx="4364182" cy="1934962"/>
          </a:xfrm>
          <a:custGeom>
            <a:avLst/>
            <a:gdLst/>
            <a:ahLst/>
            <a:cxnLst/>
            <a:rect r="r" b="b" t="t" l="l"/>
            <a:pathLst>
              <a:path h="1934962" w="4364182">
                <a:moveTo>
                  <a:pt x="0" y="0"/>
                </a:moveTo>
                <a:lnTo>
                  <a:pt x="4364182" y="0"/>
                </a:lnTo>
                <a:lnTo>
                  <a:pt x="4364182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19196" y="0"/>
            <a:ext cx="1968804" cy="1934962"/>
          </a:xfrm>
          <a:custGeom>
            <a:avLst/>
            <a:gdLst/>
            <a:ahLst/>
            <a:cxnLst/>
            <a:rect r="r" b="b" t="t" l="l"/>
            <a:pathLst>
              <a:path h="1934962" w="1968804">
                <a:moveTo>
                  <a:pt x="0" y="0"/>
                </a:moveTo>
                <a:lnTo>
                  <a:pt x="1968804" y="0"/>
                </a:lnTo>
                <a:lnTo>
                  <a:pt x="196880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00440" y="1279043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46294" y="1511636"/>
            <a:ext cx="12526849" cy="84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1"/>
              </a:lnSpc>
            </a:pPr>
            <a:r>
              <a:rPr lang="en-US" sz="5976" b="true">
                <a:solidFill>
                  <a:srgbClr val="063884"/>
                </a:solidFill>
                <a:latin typeface="Lato Bold"/>
                <a:ea typeface="Lato Bold"/>
                <a:cs typeface="Lato Bold"/>
                <a:sym typeface="Lato Bold"/>
              </a:rPr>
              <a:t>Nghiên cứu hướng tới ba đóng góp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176622" y="2995365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82762" y="3592487"/>
            <a:ext cx="910463" cy="849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1"/>
              </a:lnSpc>
            </a:pPr>
            <a:r>
              <a:rPr lang="en-US" sz="5976" b="true">
                <a:solidFill>
                  <a:srgbClr val="1763CD"/>
                </a:solidFill>
                <a:latin typeface="Lato Bold"/>
                <a:ea typeface="Lato Bold"/>
                <a:cs typeface="Lato Bold"/>
                <a:sym typeface="Lato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0223" y="5176825"/>
            <a:ext cx="4133986" cy="625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9"/>
              </a:lnSpc>
            </a:pPr>
            <a:r>
              <a:rPr lang="en-US" sz="4437" b="true">
                <a:solidFill>
                  <a:srgbClr val="063884"/>
                </a:solidFill>
                <a:latin typeface="Lato Bold"/>
                <a:ea typeface="Lato Bold"/>
                <a:cs typeface="Lato Bold"/>
                <a:sym typeface="Lato Bold"/>
              </a:rPr>
              <a:t>Pipeline dữ liệu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3362" y="5979061"/>
            <a:ext cx="4820045" cy="1474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sz="2853">
                <a:solidFill>
                  <a:srgbClr val="063884"/>
                </a:solidFill>
                <a:latin typeface="Lato"/>
                <a:ea typeface="Lato"/>
                <a:cs typeface="Lato"/>
                <a:sym typeface="Lato"/>
              </a:rPr>
              <a:t>Tự động làm sạch và hợp nhất</a:t>
            </a:r>
          </a:p>
          <a:p>
            <a:pPr algn="l">
              <a:lnSpc>
                <a:spcPts val="3995"/>
              </a:lnSpc>
            </a:pPr>
            <a:r>
              <a:rPr lang="en-US" sz="2853">
                <a:solidFill>
                  <a:srgbClr val="063884"/>
                </a:solidFill>
                <a:latin typeface="Lato"/>
                <a:ea typeface="Lato"/>
                <a:cs typeface="Lato"/>
                <a:sym typeface="Lato"/>
              </a:rPr>
              <a:t>9 bảng Olist về cấp khách</a:t>
            </a:r>
          </a:p>
          <a:p>
            <a:pPr algn="l">
              <a:lnSpc>
                <a:spcPts val="3995"/>
              </a:lnSpc>
            </a:pPr>
            <a:r>
              <a:rPr lang="en-US" sz="2853">
                <a:solidFill>
                  <a:srgbClr val="063884"/>
                </a:solidFill>
                <a:latin typeface="Lato"/>
                <a:ea typeface="Lato"/>
                <a:cs typeface="Lato"/>
                <a:sym typeface="Lato"/>
              </a:rPr>
              <a:t>hàng thực tế.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050220" y="2995365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546222" y="3485792"/>
            <a:ext cx="1063574" cy="1034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3"/>
              </a:lnSpc>
            </a:pPr>
            <a:r>
              <a:rPr lang="en-US" sz="6626" b="true">
                <a:solidFill>
                  <a:srgbClr val="F27416"/>
                </a:solidFill>
                <a:latin typeface="Lato Bold"/>
                <a:ea typeface="Lato Bold"/>
                <a:cs typeface="Lato Bold"/>
                <a:sym typeface="Lato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36573" y="5176535"/>
            <a:ext cx="4821640" cy="606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9"/>
              </a:lnSpc>
            </a:pPr>
            <a:r>
              <a:rPr lang="en-US" sz="4437" b="true">
                <a:solidFill>
                  <a:srgbClr val="063884"/>
                </a:solidFill>
                <a:latin typeface="Lato Bold"/>
                <a:ea typeface="Lato Bold"/>
                <a:cs typeface="Lato Bold"/>
                <a:sym typeface="Lato Bold"/>
              </a:rPr>
              <a:t>Phân cụm tích hợp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38597" y="5985751"/>
            <a:ext cx="4619194" cy="144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1"/>
              </a:lnSpc>
            </a:pPr>
            <a:r>
              <a:rPr lang="en-US" sz="2801">
                <a:solidFill>
                  <a:srgbClr val="063884"/>
                </a:solidFill>
                <a:latin typeface="Lato"/>
                <a:ea typeface="Lato"/>
                <a:cs typeface="Lato"/>
                <a:sym typeface="Lato"/>
              </a:rPr>
              <a:t>Kết hợp RFM với vận chuyển</a:t>
            </a:r>
          </a:p>
          <a:p>
            <a:pPr algn="l">
              <a:lnSpc>
                <a:spcPts val="3921"/>
              </a:lnSpc>
            </a:pPr>
            <a:r>
              <a:rPr lang="en-US" sz="2801">
                <a:solidFill>
                  <a:srgbClr val="063884"/>
                </a:solidFill>
                <a:latin typeface="Lato"/>
                <a:ea typeface="Lato"/>
                <a:cs typeface="Lato"/>
                <a:sym typeface="Lato"/>
              </a:rPr>
              <a:t>và trải nghiệm để xử lý</a:t>
            </a:r>
          </a:p>
          <a:p>
            <a:pPr algn="l">
              <a:lnSpc>
                <a:spcPts val="3921"/>
              </a:lnSpc>
            </a:pPr>
            <a:r>
              <a:rPr lang="en-US" sz="2801">
                <a:solidFill>
                  <a:srgbClr val="063884"/>
                </a:solidFill>
                <a:latin typeface="Lato"/>
                <a:ea typeface="Lato"/>
                <a:cs typeface="Lato"/>
                <a:sym typeface="Lato"/>
              </a:rPr>
              <a:t>giới hạn của Frequency.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923818" y="2995365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463415" y="3485792"/>
            <a:ext cx="1069954" cy="1034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3"/>
              </a:lnSpc>
            </a:pPr>
            <a:r>
              <a:rPr lang="en-US" sz="6626" b="true">
                <a:solidFill>
                  <a:srgbClr val="1763CD"/>
                </a:solidFill>
                <a:latin typeface="Lato Bold"/>
                <a:ea typeface="Lato Bold"/>
                <a:cs typeface="Lato Bold"/>
                <a:sym typeface="Lato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56959" y="5176544"/>
            <a:ext cx="4821255" cy="625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9"/>
              </a:lnSpc>
            </a:pPr>
            <a:r>
              <a:rPr lang="en-US" sz="4437" b="true">
                <a:solidFill>
                  <a:srgbClr val="063884"/>
                </a:solidFill>
                <a:latin typeface="Lato Bold"/>
                <a:ea typeface="Lato Bold"/>
                <a:cs typeface="Lato Bold"/>
                <a:sym typeface="Lato Bold"/>
              </a:rPr>
              <a:t>Hành động khả thi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56972" y="5986464"/>
            <a:ext cx="4819973" cy="144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6"/>
              </a:lnSpc>
            </a:pPr>
            <a:r>
              <a:rPr lang="en-US" sz="2790">
                <a:solidFill>
                  <a:srgbClr val="063884"/>
                </a:solidFill>
                <a:latin typeface="Lato"/>
                <a:ea typeface="Lato"/>
                <a:cs typeface="Lato"/>
                <a:sym typeface="Lato"/>
              </a:rPr>
              <a:t>Kết nối phân khúc với cải thiện vận hành, tiếp thị giữ chân</a:t>
            </a:r>
          </a:p>
          <a:p>
            <a:pPr algn="l">
              <a:lnSpc>
                <a:spcPts val="3906"/>
              </a:lnSpc>
            </a:pPr>
            <a:r>
              <a:rPr lang="en-US" sz="2790">
                <a:solidFill>
                  <a:srgbClr val="063884"/>
                </a:solidFill>
                <a:latin typeface="Lato"/>
                <a:ea typeface="Lato"/>
                <a:cs typeface="Lato"/>
                <a:sym typeface="Lato"/>
              </a:rPr>
              <a:t>và thử nghiệm A/B.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707051"/>
            <a:ext cx="3926670" cy="2579949"/>
          </a:xfrm>
          <a:custGeom>
            <a:avLst/>
            <a:gdLst/>
            <a:ahLst/>
            <a:cxnLst/>
            <a:rect r="r" b="b" t="t" l="l"/>
            <a:pathLst>
              <a:path h="2579949" w="3926670">
                <a:moveTo>
                  <a:pt x="0" y="0"/>
                </a:moveTo>
                <a:lnTo>
                  <a:pt x="3926670" y="0"/>
                </a:lnTo>
                <a:lnTo>
                  <a:pt x="3926670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997026"/>
            <a:ext cx="2395378" cy="1289974"/>
          </a:xfrm>
          <a:custGeom>
            <a:avLst/>
            <a:gdLst/>
            <a:ahLst/>
            <a:cxnLst/>
            <a:rect r="r" b="b" t="t" l="l"/>
            <a:pathLst>
              <a:path h="1289974" w="2395378">
                <a:moveTo>
                  <a:pt x="0" y="0"/>
                </a:moveTo>
                <a:lnTo>
                  <a:pt x="2395378" y="0"/>
                </a:lnTo>
                <a:lnTo>
                  <a:pt x="239537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97244" y="0"/>
            <a:ext cx="4790756" cy="4077631"/>
          </a:xfrm>
          <a:custGeom>
            <a:avLst/>
            <a:gdLst/>
            <a:ahLst/>
            <a:cxnLst/>
            <a:rect r="r" b="b" t="t" l="l"/>
            <a:pathLst>
              <a:path h="4077631" w="4790756">
                <a:moveTo>
                  <a:pt x="0" y="0"/>
                </a:moveTo>
                <a:lnTo>
                  <a:pt x="4790756" y="0"/>
                </a:lnTo>
                <a:lnTo>
                  <a:pt x="4790756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00440" y="1279043"/>
            <a:ext cx="2187560" cy="4941258"/>
          </a:xfrm>
          <a:custGeom>
            <a:avLst/>
            <a:gdLst/>
            <a:ahLst/>
            <a:cxnLst/>
            <a:rect r="r" b="b" t="t" l="l"/>
            <a:pathLst>
              <a:path h="4941258" w="2187560">
                <a:moveTo>
                  <a:pt x="0" y="0"/>
                </a:moveTo>
                <a:lnTo>
                  <a:pt x="2187560" y="0"/>
                </a:lnTo>
                <a:lnTo>
                  <a:pt x="2187560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2842" y="5990729"/>
            <a:ext cx="4801694" cy="2372241"/>
          </a:xfrm>
          <a:custGeom>
            <a:avLst/>
            <a:gdLst/>
            <a:ahLst/>
            <a:cxnLst/>
            <a:rect r="r" b="b" t="t" l="l"/>
            <a:pathLst>
              <a:path h="2372241" w="4801694">
                <a:moveTo>
                  <a:pt x="0" y="0"/>
                </a:moveTo>
                <a:lnTo>
                  <a:pt x="4801694" y="0"/>
                </a:lnTo>
                <a:lnTo>
                  <a:pt x="480169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17330" y="5990729"/>
            <a:ext cx="4582938" cy="2372241"/>
          </a:xfrm>
          <a:custGeom>
            <a:avLst/>
            <a:gdLst/>
            <a:ahLst/>
            <a:cxnLst/>
            <a:rect r="r" b="b" t="t" l="l"/>
            <a:pathLst>
              <a:path h="2372241" w="4582938">
                <a:moveTo>
                  <a:pt x="0" y="0"/>
                </a:moveTo>
                <a:lnTo>
                  <a:pt x="4582938" y="0"/>
                </a:lnTo>
                <a:lnTo>
                  <a:pt x="458293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5990729"/>
            <a:ext cx="4572000" cy="2372241"/>
          </a:xfrm>
          <a:custGeom>
            <a:avLst/>
            <a:gdLst/>
            <a:ahLst/>
            <a:cxnLst/>
            <a:rect r="r" b="b" t="t" l="l"/>
            <a:pathLst>
              <a:path h="2372241" w="4572000">
                <a:moveTo>
                  <a:pt x="0" y="0"/>
                </a:moveTo>
                <a:lnTo>
                  <a:pt x="4572000" y="0"/>
                </a:lnTo>
                <a:lnTo>
                  <a:pt x="457200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840976" y="5990729"/>
            <a:ext cx="4801694" cy="2372241"/>
          </a:xfrm>
          <a:custGeom>
            <a:avLst/>
            <a:gdLst/>
            <a:ahLst/>
            <a:cxnLst/>
            <a:rect r="r" b="b" t="t" l="l"/>
            <a:pathLst>
              <a:path h="2372241" w="4801694">
                <a:moveTo>
                  <a:pt x="0" y="0"/>
                </a:moveTo>
                <a:lnTo>
                  <a:pt x="4801694" y="0"/>
                </a:lnTo>
                <a:lnTo>
                  <a:pt x="480169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64204" y="989919"/>
            <a:ext cx="10735842" cy="2332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8"/>
              </a:lnSpc>
            </a:pPr>
            <a:r>
              <a:rPr lang="en-US" sz="7987" spc="-159" b="true">
                <a:solidFill>
                  <a:srgbClr val="06388B"/>
                </a:solidFill>
                <a:latin typeface="Lato Bold"/>
                <a:ea typeface="Lato Bold"/>
                <a:cs typeface="Lato Bold"/>
                <a:sym typeface="Lato Bold"/>
              </a:rPr>
              <a:t>Từ dữ liệu giao dịch</a:t>
            </a:r>
          </a:p>
          <a:p>
            <a:pPr algn="l">
              <a:lnSpc>
                <a:spcPts val="9188"/>
              </a:lnSpc>
            </a:pPr>
            <a:r>
              <a:rPr lang="en-US" sz="7987" spc="-159" b="true">
                <a:solidFill>
                  <a:srgbClr val="06388B"/>
                </a:solidFill>
                <a:latin typeface="Lato Bold"/>
                <a:ea typeface="Lato Bold"/>
                <a:cs typeface="Lato Bold"/>
                <a:sym typeface="Lato Bold"/>
              </a:rPr>
              <a:t>đến hồ sơ khách hàng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8878" y="3590287"/>
            <a:ext cx="14442663" cy="177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6067" indent="-368033" lvl="1">
              <a:lnSpc>
                <a:spcPts val="4603"/>
              </a:lnSpc>
              <a:buFont typeface="Arial"/>
              <a:buChar char="•"/>
            </a:pPr>
            <a:r>
              <a:rPr lang="en-US" b="true" sz="3410" spc="-68">
                <a:solidFill>
                  <a:srgbClr val="06388B"/>
                </a:solidFill>
                <a:latin typeface="Lato Bold"/>
                <a:ea typeface="Lato Bold"/>
                <a:cs typeface="Lato Bold"/>
                <a:sym typeface="Lato Bold"/>
              </a:rPr>
              <a:t>Lọc đơn đã giao hợp lệ, thu được </a:t>
            </a:r>
            <a:r>
              <a:rPr lang="en-US" b="true" sz="3410" spc="-68">
                <a:solidFill>
                  <a:srgbClr val="FA8A33"/>
                </a:solidFill>
                <a:latin typeface="Lato Heavy"/>
                <a:ea typeface="Lato Heavy"/>
                <a:cs typeface="Lato Heavy"/>
                <a:sym typeface="Lato Heavy"/>
              </a:rPr>
              <a:t>96.470 </a:t>
            </a:r>
            <a:r>
              <a:rPr lang="en-US" b="true" sz="3410" spc="-68">
                <a:solidFill>
                  <a:srgbClr val="06388B"/>
                </a:solidFill>
                <a:latin typeface="Lato Bold"/>
                <a:ea typeface="Lato Bold"/>
                <a:cs typeface="Lato Bold"/>
                <a:sym typeface="Lato Bold"/>
              </a:rPr>
              <a:t>đơn chuẩn.</a:t>
            </a:r>
          </a:p>
          <a:p>
            <a:pPr algn="l" marL="736067" indent="-368033" lvl="1">
              <a:lnSpc>
                <a:spcPts val="4603"/>
              </a:lnSpc>
              <a:buFont typeface="Arial"/>
              <a:buChar char="•"/>
            </a:pPr>
            <a:r>
              <a:rPr lang="en-US" b="true" sz="3410" spc="-68">
                <a:solidFill>
                  <a:srgbClr val="06388B"/>
                </a:solidFill>
                <a:latin typeface="Lato Bold"/>
                <a:ea typeface="Lato Bold"/>
                <a:cs typeface="Lato Bold"/>
                <a:sym typeface="Lato Bold"/>
              </a:rPr>
              <a:t>Tổng hợp mặt hàng và thanh toán ở cấp đơn hàng trước khi kết nối dữ liệu.</a:t>
            </a:r>
          </a:p>
          <a:p>
            <a:pPr algn="l" marL="736067" indent="-368033" lvl="1">
              <a:lnSpc>
                <a:spcPts val="4603"/>
              </a:lnSpc>
              <a:buFont typeface="Arial"/>
              <a:buChar char="•"/>
            </a:pPr>
            <a:r>
              <a:rPr lang="en-US" b="true" sz="3410" spc="-68">
                <a:solidFill>
                  <a:srgbClr val="06388B"/>
                </a:solidFill>
                <a:latin typeface="Lato Bold"/>
                <a:ea typeface="Lato Bold"/>
                <a:cs typeface="Lato Bold"/>
                <a:sym typeface="Lato Bold"/>
              </a:rPr>
              <a:t>Gộp </a:t>
            </a:r>
            <a:r>
              <a:rPr lang="en-US" b="true" sz="3410" spc="-68">
                <a:solidFill>
                  <a:srgbClr val="FA8A33"/>
                </a:solidFill>
                <a:latin typeface="Lato Heavy"/>
                <a:ea typeface="Lato Heavy"/>
                <a:cs typeface="Lato Heavy"/>
                <a:sym typeface="Lato Heavy"/>
              </a:rPr>
              <a:t>96.470 </a:t>
            </a:r>
            <a:r>
              <a:rPr lang="en-US" b="true" sz="3410" spc="-68">
                <a:solidFill>
                  <a:srgbClr val="06388B"/>
                </a:solidFill>
                <a:latin typeface="Lato Bold"/>
                <a:ea typeface="Lato Bold"/>
                <a:cs typeface="Lato Bold"/>
                <a:sym typeface="Lato Bold"/>
              </a:rPr>
              <a:t>giao dịch thành </a:t>
            </a:r>
            <a:r>
              <a:rPr lang="en-US" b="true" sz="3410" spc="-68">
                <a:solidFill>
                  <a:srgbClr val="FA8A33"/>
                </a:solidFill>
                <a:latin typeface="Lato Heavy"/>
                <a:ea typeface="Lato Heavy"/>
                <a:cs typeface="Lato Heavy"/>
                <a:sym typeface="Lato Heavy"/>
              </a:rPr>
              <a:t>93.350 </a:t>
            </a:r>
            <a:r>
              <a:rPr lang="en-US" b="true" sz="3410" spc="-68">
                <a:solidFill>
                  <a:srgbClr val="06388B"/>
                </a:solidFill>
                <a:latin typeface="Lato Bold"/>
                <a:ea typeface="Lato Bold"/>
                <a:cs typeface="Lato Bold"/>
                <a:sym typeface="Lato Bold"/>
              </a:rPr>
              <a:t>khách hàng với </a:t>
            </a:r>
            <a:r>
              <a:rPr lang="en-US" b="true" sz="3410" spc="-68">
                <a:solidFill>
                  <a:srgbClr val="FA8A33"/>
                </a:solidFill>
                <a:latin typeface="Lato Heavy"/>
                <a:ea typeface="Lato Heavy"/>
                <a:cs typeface="Lato Heavy"/>
                <a:sym typeface="Lato Heavy"/>
              </a:rPr>
              <a:t>29 </a:t>
            </a:r>
            <a:r>
              <a:rPr lang="en-US" b="true" sz="3410" spc="-68">
                <a:solidFill>
                  <a:srgbClr val="06388B"/>
                </a:solidFill>
                <a:latin typeface="Lato Bold"/>
                <a:ea typeface="Lato Bold"/>
                <a:cs typeface="Lato Bold"/>
                <a:sym typeface="Lato Bold"/>
              </a:rPr>
              <a:t>đặc trưng.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2406" y="6798003"/>
            <a:ext cx="3258347" cy="56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3"/>
              </a:lnSpc>
            </a:pPr>
            <a:r>
              <a:rPr lang="en-US" b="true" sz="3410" spc="-68">
                <a:solidFill>
                  <a:srgbClr val="06388B"/>
                </a:solidFill>
                <a:latin typeface="Lato Bold"/>
                <a:ea typeface="Lato Bold"/>
                <a:cs typeface="Lato Bold"/>
                <a:sym typeface="Lato Bold"/>
              </a:rPr>
              <a:t>9 bảng quan hệ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72902" y="6798003"/>
            <a:ext cx="1867324" cy="56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3"/>
              </a:lnSpc>
            </a:pPr>
            <a:r>
              <a:rPr lang="en-US" b="true" sz="3410" spc="-68">
                <a:solidFill>
                  <a:srgbClr val="06388B"/>
                </a:solidFill>
                <a:latin typeface="Lato Bold"/>
                <a:ea typeface="Lato Bold"/>
                <a:cs typeface="Lato Bold"/>
                <a:sym typeface="Lato Bold"/>
              </a:rPr>
              <a:t>làm sạch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85529" y="6511845"/>
            <a:ext cx="1821612" cy="1101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3"/>
              </a:lnSpc>
            </a:pPr>
            <a:r>
              <a:rPr lang="en-US" b="true" sz="3410" spc="-68">
                <a:solidFill>
                  <a:srgbClr val="FAFAFA"/>
                </a:solidFill>
                <a:latin typeface="Lato Bold"/>
                <a:ea typeface="Lato Bold"/>
                <a:cs typeface="Lato Bold"/>
                <a:sym typeface="Lato Bold"/>
              </a:rPr>
              <a:t>tổng hợp</a:t>
            </a:r>
          </a:p>
          <a:p>
            <a:pPr algn="ctr">
              <a:lnSpc>
                <a:spcPts val="4603"/>
              </a:lnSpc>
            </a:pPr>
            <a:r>
              <a:rPr lang="en-US" b="true" sz="3410" spc="-68">
                <a:solidFill>
                  <a:srgbClr val="FAFAFA"/>
                </a:solidFill>
                <a:latin typeface="Lato Bold"/>
                <a:ea typeface="Lato Bold"/>
                <a:cs typeface="Lato Bold"/>
                <a:sym typeface="Lato Bold"/>
              </a:rPr>
              <a:t>cấp đơn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35422" y="6511845"/>
            <a:ext cx="2380284" cy="1101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3"/>
              </a:lnSpc>
            </a:pPr>
            <a:r>
              <a:rPr lang="en-US" b="true" sz="3410" spc="-68">
                <a:solidFill>
                  <a:srgbClr val="FAFAFA"/>
                </a:solidFill>
                <a:latin typeface="Lato Bold"/>
                <a:ea typeface="Lato Bold"/>
                <a:cs typeface="Lato Bold"/>
                <a:sym typeface="Lato Bold"/>
              </a:rPr>
              <a:t>hồ sơ</a:t>
            </a:r>
          </a:p>
          <a:p>
            <a:pPr algn="ctr">
              <a:lnSpc>
                <a:spcPts val="4603"/>
              </a:lnSpc>
            </a:pPr>
            <a:r>
              <a:rPr lang="en-US" b="true" sz="3410" spc="-68">
                <a:solidFill>
                  <a:srgbClr val="FAFAFA"/>
                </a:solidFill>
                <a:latin typeface="Lato Bold"/>
                <a:ea typeface="Lato Bold"/>
                <a:cs typeface="Lato Bold"/>
                <a:sym typeface="Lato Bold"/>
              </a:rPr>
              <a:t>khách hàng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3070670" cy="10287000"/>
          </a:xfrm>
          <a:custGeom>
            <a:avLst/>
            <a:gdLst/>
            <a:ahLst/>
            <a:cxnLst/>
            <a:rect r="r" b="b" t="t" l="l"/>
            <a:pathLst>
              <a:path h="10287000" w="13070670">
                <a:moveTo>
                  <a:pt x="0" y="0"/>
                </a:moveTo>
                <a:lnTo>
                  <a:pt x="13070670" y="0"/>
                </a:lnTo>
                <a:lnTo>
                  <a:pt x="1307067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352038"/>
            <a:ext cx="3707914" cy="1934962"/>
          </a:xfrm>
          <a:custGeom>
            <a:avLst/>
            <a:gdLst/>
            <a:ahLst/>
            <a:cxnLst/>
            <a:rect r="r" b="b" t="t" l="l"/>
            <a:pathLst>
              <a:path h="1934962" w="3707914">
                <a:moveTo>
                  <a:pt x="0" y="0"/>
                </a:moveTo>
                <a:lnTo>
                  <a:pt x="3707914" y="0"/>
                </a:lnTo>
                <a:lnTo>
                  <a:pt x="370791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747196" y="1705390"/>
            <a:ext cx="6540804" cy="6657580"/>
          </a:xfrm>
          <a:custGeom>
            <a:avLst/>
            <a:gdLst/>
            <a:ahLst/>
            <a:cxnLst/>
            <a:rect r="r" b="b" t="t" l="l"/>
            <a:pathLst>
              <a:path h="6657580" w="6540804">
                <a:moveTo>
                  <a:pt x="0" y="0"/>
                </a:moveTo>
                <a:lnTo>
                  <a:pt x="6540804" y="0"/>
                </a:lnTo>
                <a:lnTo>
                  <a:pt x="6540804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94842" y="809870"/>
            <a:ext cx="10350968" cy="2145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3"/>
              </a:lnSpc>
            </a:pPr>
            <a:r>
              <a:rPr lang="en-US" sz="8033" spc="-160" b="true">
                <a:solidFill>
                  <a:srgbClr val="06328D"/>
                </a:solidFill>
                <a:latin typeface="Lato Bold"/>
                <a:ea typeface="Lato Bold"/>
                <a:cs typeface="Lato Bold"/>
                <a:sym typeface="Lato Bold"/>
              </a:rPr>
              <a:t>Giao hàng trễ làm</a:t>
            </a:r>
          </a:p>
          <a:p>
            <a:pPr algn="l">
              <a:lnSpc>
                <a:spcPts val="8433"/>
              </a:lnSpc>
            </a:pPr>
            <a:r>
              <a:rPr lang="en-US" sz="8033" spc="-160" b="true">
                <a:solidFill>
                  <a:srgbClr val="08459D"/>
                </a:solidFill>
                <a:latin typeface="Lato Bold"/>
                <a:ea typeface="Lato Bold"/>
                <a:cs typeface="Lato Bold"/>
                <a:sym typeface="Lato Bold"/>
              </a:rPr>
              <a:t>suy giảm trải nghiệm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2379" y="3279144"/>
            <a:ext cx="2597210" cy="136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49"/>
              </a:lnSpc>
            </a:pPr>
            <a:r>
              <a:rPr lang="en-US" sz="9954" spc="-199" b="true">
                <a:solidFill>
                  <a:srgbClr val="0857B2"/>
                </a:solidFill>
                <a:latin typeface="Lato Bold"/>
                <a:ea typeface="Lato Bold"/>
                <a:cs typeface="Lato Bold"/>
                <a:sym typeface="Lato Bold"/>
              </a:rPr>
              <a:t>4,29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12021" y="4674274"/>
            <a:ext cx="1862696" cy="44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9"/>
              </a:lnSpc>
            </a:pPr>
            <a:r>
              <a:rPr lang="en-US" sz="3323" spc="-66" b="true">
                <a:solidFill>
                  <a:srgbClr val="062684"/>
                </a:solidFill>
                <a:latin typeface="Lato Bold"/>
                <a:ea typeface="Lato Bold"/>
                <a:cs typeface="Lato Bold"/>
                <a:sym typeface="Lato Bold"/>
              </a:rPr>
              <a:t>đúng hạn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78198" y="3718148"/>
            <a:ext cx="1337182" cy="855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6292" spc="-125" b="true">
                <a:solidFill>
                  <a:srgbClr val="0857B2"/>
                </a:solidFill>
                <a:latin typeface="Lato Bold"/>
                <a:ea typeface="Lato Bold"/>
                <a:cs typeface="Lato Bold"/>
                <a:sym typeface="Lato Bold"/>
              </a:rPr>
              <a:t>sao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873598" y="3640352"/>
            <a:ext cx="1093780" cy="863627"/>
          </a:xfrm>
          <a:custGeom>
            <a:avLst/>
            <a:gdLst/>
            <a:ahLst/>
            <a:cxnLst/>
            <a:rect r="r" b="b" t="t" l="l"/>
            <a:pathLst>
              <a:path h="863627" w="1093780">
                <a:moveTo>
                  <a:pt x="0" y="0"/>
                </a:moveTo>
                <a:lnTo>
                  <a:pt x="1093780" y="0"/>
                </a:lnTo>
                <a:lnTo>
                  <a:pt x="109378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448176" y="3279144"/>
            <a:ext cx="2597210" cy="136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49"/>
              </a:lnSpc>
            </a:pPr>
            <a:r>
              <a:rPr lang="en-US" sz="9954" spc="-199" b="true">
                <a:solidFill>
                  <a:srgbClr val="F9781B"/>
                </a:solidFill>
                <a:latin typeface="Lato Bold"/>
                <a:ea typeface="Lato Bold"/>
                <a:cs typeface="Lato Bold"/>
                <a:sym typeface="Lato Bold"/>
              </a:rPr>
              <a:t>2,27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59316" y="3718148"/>
            <a:ext cx="1337182" cy="855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6292" spc="-125" b="true">
                <a:solidFill>
                  <a:srgbClr val="F9781B"/>
                </a:solidFill>
                <a:latin typeface="Lato Bold"/>
                <a:ea typeface="Lato Bold"/>
                <a:cs typeface="Lato Bold"/>
                <a:sym typeface="Lato Bold"/>
              </a:rPr>
              <a:t>sao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0961" y="4674274"/>
            <a:ext cx="1511663" cy="44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9"/>
              </a:lnSpc>
            </a:pPr>
            <a:r>
              <a:rPr lang="en-US" sz="3323" spc="-66" b="true">
                <a:solidFill>
                  <a:srgbClr val="062684"/>
                </a:solidFill>
                <a:latin typeface="Lato Bold"/>
                <a:ea typeface="Lato Bold"/>
                <a:cs typeface="Lato Bold"/>
                <a:sym typeface="Lato Bold"/>
              </a:rPr>
              <a:t>giao trễ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35129" y="5274956"/>
            <a:ext cx="4396495" cy="70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0"/>
              </a:lnSpc>
            </a:pPr>
            <a:r>
              <a:rPr lang="en-US" sz="5220" spc="-104" b="true">
                <a:solidFill>
                  <a:srgbClr val="F9781B"/>
                </a:solidFill>
                <a:latin typeface="Lato Bold"/>
                <a:ea typeface="Lato Bold"/>
                <a:cs typeface="Lato Bold"/>
                <a:sym typeface="Lato Bold"/>
              </a:rPr>
              <a:t>giảm 2,02 sao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6937" y="6369394"/>
            <a:ext cx="10031304" cy="92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9693" indent="-324847" lvl="1">
              <a:lnSpc>
                <a:spcPts val="3763"/>
              </a:lnSpc>
              <a:buFont typeface="Arial"/>
              <a:buChar char="•"/>
            </a:pPr>
            <a:r>
              <a:rPr lang="en-US" sz="3010" spc="-60">
                <a:solidFill>
                  <a:srgbClr val="062684"/>
                </a:solidFill>
                <a:latin typeface="Lato"/>
                <a:ea typeface="Lato"/>
                <a:cs typeface="Lato"/>
                <a:sym typeface="Lato"/>
              </a:rPr>
              <a:t>Đơn giao trễ chiếm 6,77%; kiểm định Mann–Whitney U cho thấy chênh lệch có ý nghĩa thống kê.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0364" y="7423653"/>
            <a:ext cx="9688587" cy="46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9693" indent="-324847" lvl="1">
              <a:lnSpc>
                <a:spcPts val="3763"/>
              </a:lnSpc>
              <a:buFont typeface="Arial"/>
              <a:buChar char="•"/>
            </a:pPr>
            <a:r>
              <a:rPr lang="en-US" sz="3010" spc="-60">
                <a:solidFill>
                  <a:srgbClr val="062684"/>
                </a:solidFill>
                <a:latin typeface="Lato"/>
                <a:ea typeface="Lato"/>
                <a:cs typeface="Lato"/>
                <a:sym typeface="Lato"/>
              </a:rPr>
              <a:t>Khi trễ 1–3 ngày, điểm trung bình giảm còn 3,29 sao.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3189" y="7995965"/>
            <a:ext cx="9406110" cy="46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9693" indent="-324847" lvl="1">
              <a:lnSpc>
                <a:spcPts val="3763"/>
              </a:lnSpc>
              <a:buFont typeface="Arial"/>
              <a:buChar char="•"/>
            </a:pPr>
            <a:r>
              <a:rPr lang="en-US" sz="3010" spc="-60">
                <a:solidFill>
                  <a:srgbClr val="062684"/>
                </a:solidFill>
                <a:latin typeface="Lato"/>
                <a:ea typeface="Lato"/>
                <a:cs typeface="Lato"/>
                <a:sym typeface="Lato"/>
              </a:rPr>
              <a:t>Khi trễ hơn 7 ngày, điểm trung bình chạm 1,70 sao.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26038" y="3614258"/>
            <a:ext cx="3454770" cy="61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9"/>
              </a:lnSpc>
            </a:pPr>
            <a:r>
              <a:rPr lang="en-US" sz="4552" spc="-91" b="true">
                <a:solidFill>
                  <a:srgbClr val="063284"/>
                </a:solidFill>
                <a:latin typeface="Lato Bold"/>
                <a:ea typeface="Lato Bold"/>
                <a:cs typeface="Lato Bold"/>
                <a:sym typeface="Lato Bold"/>
              </a:rPr>
              <a:t>Tỷ lệ giao trễ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46576" y="4500682"/>
            <a:ext cx="4971753" cy="187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38"/>
              </a:lnSpc>
            </a:pPr>
            <a:r>
              <a:rPr lang="en-US" b="true" sz="13658" spc="-273">
                <a:solidFill>
                  <a:srgbClr val="F9781B"/>
                </a:solidFill>
                <a:latin typeface="Lato Bold"/>
                <a:ea typeface="Lato Bold"/>
                <a:cs typeface="Lato Bold"/>
                <a:sym typeface="Lato Bold"/>
              </a:rPr>
              <a:t>6,77%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925691"/>
            <a:ext cx="3926670" cy="2361309"/>
          </a:xfrm>
          <a:custGeom>
            <a:avLst/>
            <a:gdLst/>
            <a:ahLst/>
            <a:cxnLst/>
            <a:rect r="r" b="b" t="t" l="l"/>
            <a:pathLst>
              <a:path h="2361309" w="3926670">
                <a:moveTo>
                  <a:pt x="0" y="0"/>
                </a:moveTo>
                <a:lnTo>
                  <a:pt x="3926670" y="0"/>
                </a:lnTo>
                <a:lnTo>
                  <a:pt x="392667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83110" y="0"/>
            <a:ext cx="7404890" cy="10287000"/>
          </a:xfrm>
          <a:custGeom>
            <a:avLst/>
            <a:gdLst/>
            <a:ahLst/>
            <a:cxnLst/>
            <a:rect r="r" b="b" t="t" l="l"/>
            <a:pathLst>
              <a:path h="10287000" w="7404890">
                <a:moveTo>
                  <a:pt x="0" y="0"/>
                </a:moveTo>
                <a:lnTo>
                  <a:pt x="7404890" y="0"/>
                </a:lnTo>
                <a:lnTo>
                  <a:pt x="74048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17598" y="0"/>
            <a:ext cx="3270402" cy="3006296"/>
          </a:xfrm>
          <a:custGeom>
            <a:avLst/>
            <a:gdLst/>
            <a:ahLst/>
            <a:cxnLst/>
            <a:rect r="r" b="b" t="t" l="l"/>
            <a:pathLst>
              <a:path h="3006296" w="3270402">
                <a:moveTo>
                  <a:pt x="0" y="0"/>
                </a:moveTo>
                <a:lnTo>
                  <a:pt x="3270402" y="0"/>
                </a:lnTo>
                <a:lnTo>
                  <a:pt x="327040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17598" y="7925691"/>
            <a:ext cx="3270402" cy="2361309"/>
          </a:xfrm>
          <a:custGeom>
            <a:avLst/>
            <a:gdLst/>
            <a:ahLst/>
            <a:cxnLst/>
            <a:rect r="r" b="b" t="t" l="l"/>
            <a:pathLst>
              <a:path h="2361309" w="3270402">
                <a:moveTo>
                  <a:pt x="0" y="0"/>
                </a:moveTo>
                <a:lnTo>
                  <a:pt x="3270402" y="0"/>
                </a:lnTo>
                <a:lnTo>
                  <a:pt x="3270402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51711" y="1386963"/>
            <a:ext cx="9306246" cy="183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7"/>
              </a:lnSpc>
            </a:pPr>
            <a:r>
              <a:rPr lang="en-US" sz="6299" b="true">
                <a:solidFill>
                  <a:srgbClr val="063284"/>
                </a:solidFill>
                <a:latin typeface="Lato Bold"/>
                <a:ea typeface="Lato Bold"/>
                <a:cs typeface="Lato Bold"/>
                <a:sym typeface="Lato Bold"/>
              </a:rPr>
              <a:t>Đặc trưng hóa</a:t>
            </a:r>
          </a:p>
          <a:p>
            <a:pPr algn="l">
              <a:lnSpc>
                <a:spcPts val="7247"/>
              </a:lnSpc>
            </a:pPr>
            <a:r>
              <a:rPr lang="en-US" sz="6299" b="true">
                <a:solidFill>
                  <a:srgbClr val="063284"/>
                </a:solidFill>
                <a:latin typeface="Lato Bold"/>
                <a:ea typeface="Lato Bold"/>
                <a:cs typeface="Lato Bold"/>
                <a:sym typeface="Lato Bold"/>
              </a:rPr>
              <a:t>trải nghiệm khách hàng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82842" y="3640352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3818" y="3875125"/>
            <a:ext cx="461173" cy="64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2"/>
              </a:lnSpc>
            </a:pPr>
            <a:r>
              <a:rPr lang="en-US" b="true" sz="4603" spc="-92">
                <a:solidFill>
                  <a:srgbClr val="08459D"/>
                </a:solidFill>
                <a:latin typeface="Lato Bold"/>
                <a:ea typeface="Lato Bold"/>
                <a:cs typeface="Lato Bold"/>
                <a:sym typeface="Lato Bold"/>
              </a:rPr>
              <a:t>1.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74518" y="3650253"/>
            <a:ext cx="7044280" cy="98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5"/>
              </a:lnSpc>
            </a:pPr>
            <a:r>
              <a:rPr lang="en-US" sz="2888" spc="-57" b="true">
                <a:solidFill>
                  <a:srgbClr val="063284"/>
                </a:solidFill>
                <a:latin typeface="Lato Bold"/>
                <a:ea typeface="Lato Bold"/>
                <a:cs typeface="Lato Bold"/>
                <a:sym typeface="Lato Bold"/>
              </a:rPr>
              <a:t>Winsorization 1%–99% và biến đổi Log1p</a:t>
            </a:r>
          </a:p>
          <a:p>
            <a:pPr algn="l">
              <a:lnSpc>
                <a:spcPts val="4045"/>
              </a:lnSpc>
            </a:pPr>
            <a:r>
              <a:rPr lang="en-US" sz="2888" spc="-57" b="true">
                <a:solidFill>
                  <a:srgbClr val="063284"/>
                </a:solidFill>
                <a:latin typeface="Lato Bold"/>
                <a:ea typeface="Lato Bold"/>
                <a:cs typeface="Lato Bold"/>
                <a:sym typeface="Lato Bold"/>
              </a:rPr>
              <a:t>xử lý ngoại lệ cùng phân phối lệch phải.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82842" y="5138034"/>
            <a:ext cx="1104718" cy="1300906"/>
          </a:xfrm>
          <a:custGeom>
            <a:avLst/>
            <a:gdLst/>
            <a:ahLst/>
            <a:cxnLst/>
            <a:rect r="r" b="b" t="t" l="l"/>
            <a:pathLst>
              <a:path h="1300906" w="1104718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67311" y="5417555"/>
            <a:ext cx="594187" cy="723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4"/>
              </a:lnSpc>
            </a:pPr>
            <a:r>
              <a:rPr lang="en-US" b="true" sz="5115" spc="-102">
                <a:solidFill>
                  <a:srgbClr val="08459D"/>
                </a:solidFill>
                <a:latin typeface="Lato Bold"/>
                <a:ea typeface="Lato Bold"/>
                <a:cs typeface="Lato Bold"/>
                <a:sym typeface="Lato Bold"/>
              </a:rPr>
              <a:t>2.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76576" y="5261763"/>
            <a:ext cx="6838529" cy="98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5"/>
              </a:lnSpc>
            </a:pPr>
            <a:r>
              <a:rPr lang="en-US" sz="2888" spc="-57" b="true">
                <a:solidFill>
                  <a:srgbClr val="063284"/>
                </a:solidFill>
                <a:latin typeface="Lato Bold"/>
                <a:ea typeface="Lato Bold"/>
                <a:cs typeface="Lato Bold"/>
                <a:sym typeface="Lato Bold"/>
              </a:rPr>
              <a:t>Cờ isSeverely Delayed ghi nhận giao trễ</a:t>
            </a:r>
          </a:p>
          <a:p>
            <a:pPr algn="l">
              <a:lnSpc>
                <a:spcPts val="4045"/>
              </a:lnSpc>
            </a:pPr>
            <a:r>
              <a:rPr lang="en-US" sz="2888" spc="-57" b="true">
                <a:solidFill>
                  <a:srgbClr val="063284"/>
                </a:solidFill>
                <a:latin typeface="Lato Bold"/>
                <a:ea typeface="Lato Bold"/>
                <a:cs typeface="Lato Bold"/>
                <a:sym typeface="Lato Bold"/>
              </a:rPr>
              <a:t>nghiêm trọng trên 3 ngày.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82842" y="6635716"/>
            <a:ext cx="1104718" cy="1300906"/>
          </a:xfrm>
          <a:custGeom>
            <a:avLst/>
            <a:gdLst/>
            <a:ahLst/>
            <a:cxnLst/>
            <a:rect r="r" b="b" t="t" l="l"/>
            <a:pathLst>
              <a:path h="1300906" w="1104718">
                <a:moveTo>
                  <a:pt x="0" y="0"/>
                </a:moveTo>
                <a:lnTo>
                  <a:pt x="1104718" y="0"/>
                </a:lnTo>
                <a:lnTo>
                  <a:pt x="1104718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61648" y="7029064"/>
            <a:ext cx="605514" cy="723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4"/>
              </a:lnSpc>
            </a:pPr>
            <a:r>
              <a:rPr lang="en-US" b="true" sz="5115" spc="-102">
                <a:solidFill>
                  <a:srgbClr val="08459D"/>
                </a:solidFill>
                <a:latin typeface="Lato Bold"/>
                <a:ea typeface="Lato Bold"/>
                <a:cs typeface="Lato Bold"/>
                <a:sym typeface="Lato Bold"/>
              </a:rPr>
              <a:t>3.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60607" y="6883131"/>
            <a:ext cx="8435426" cy="97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7"/>
              </a:lnSpc>
            </a:pPr>
            <a:r>
              <a:rPr lang="en-US" sz="2847" spc="-57" b="true">
                <a:solidFill>
                  <a:srgbClr val="063284"/>
                </a:solidFill>
                <a:latin typeface="Lato Bold"/>
                <a:ea typeface="Lato Bold"/>
                <a:cs typeface="Lato Bold"/>
                <a:sym typeface="Lato Bold"/>
              </a:rPr>
              <a:t>StandardScaler chuẩn hóa 10 đặc trưng;</a:t>
            </a:r>
          </a:p>
          <a:p>
            <a:pPr algn="l">
              <a:lnSpc>
                <a:spcPts val="3987"/>
              </a:lnSpc>
            </a:pPr>
            <a:r>
              <a:rPr lang="en-US" sz="2847" spc="-57" b="true">
                <a:solidFill>
                  <a:srgbClr val="063284"/>
                </a:solidFill>
                <a:latin typeface="Lato Bold"/>
                <a:ea typeface="Lato Bold"/>
                <a:cs typeface="Lato Bold"/>
                <a:sym typeface="Lato Bold"/>
              </a:rPr>
              <a:t>hai thành phần PCA giải thích 52,04% phương sai.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09924" y="2218985"/>
            <a:ext cx="2020057" cy="199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34"/>
              </a:lnSpc>
            </a:pPr>
            <a:r>
              <a:rPr lang="en-US" sz="13945" spc="-279" b="true">
                <a:solidFill>
                  <a:srgbClr val="FDAF6A"/>
                </a:solidFill>
                <a:latin typeface="Lato Bold"/>
                <a:ea typeface="Lato Bold"/>
                <a:cs typeface="Lato Bold"/>
                <a:sym typeface="Lato Bold"/>
              </a:rPr>
              <a:t>10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89359" y="4091291"/>
            <a:ext cx="4792271" cy="564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sz="3568" spc="-71" b="true">
                <a:solidFill>
                  <a:srgbClr val="F4F6FC"/>
                </a:solidFill>
                <a:latin typeface="Lato Bold"/>
                <a:ea typeface="Lato Bold"/>
                <a:cs typeface="Lato Bold"/>
                <a:sym typeface="Lato Bold"/>
              </a:rPr>
              <a:t>đặc trưng mô hình hóa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85851" y="5203559"/>
            <a:ext cx="5143074" cy="1502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78"/>
              </a:lnSpc>
            </a:pPr>
            <a:r>
              <a:rPr lang="en-US" sz="10529" spc="-210" b="true">
                <a:solidFill>
                  <a:srgbClr val="FD8F33"/>
                </a:solidFill>
                <a:latin typeface="Lato Bold"/>
                <a:ea typeface="Lato Bold"/>
                <a:cs typeface="Lato Bold"/>
                <a:sym typeface="Lato Bold"/>
              </a:rPr>
              <a:t>52,04%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95463" y="6817125"/>
            <a:ext cx="4181786" cy="106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323" spc="-66" b="true">
                <a:solidFill>
                  <a:srgbClr val="F4F6FC"/>
                </a:solidFill>
                <a:latin typeface="Lato Bold"/>
                <a:ea typeface="Lato Bold"/>
                <a:cs typeface="Lato Bold"/>
                <a:sym typeface="Lato Bold"/>
              </a:rPr>
              <a:t>PCA hai thành phần · 52,04% phương sai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36354" y="0"/>
            <a:ext cx="3051646" cy="2579949"/>
          </a:xfrm>
          <a:custGeom>
            <a:avLst/>
            <a:gdLst/>
            <a:ahLst/>
            <a:cxnLst/>
            <a:rect r="r" b="b" t="t" l="l"/>
            <a:pathLst>
              <a:path h="2579949" w="3051646">
                <a:moveTo>
                  <a:pt x="0" y="0"/>
                </a:moveTo>
                <a:lnTo>
                  <a:pt x="3051646" y="0"/>
                </a:lnTo>
                <a:lnTo>
                  <a:pt x="305164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56708" y="634055"/>
            <a:ext cx="1531292" cy="3443576"/>
          </a:xfrm>
          <a:custGeom>
            <a:avLst/>
            <a:gdLst/>
            <a:ahLst/>
            <a:cxnLst/>
            <a:rect r="r" b="b" t="t" l="l"/>
            <a:pathLst>
              <a:path h="3443576" w="1531292">
                <a:moveTo>
                  <a:pt x="0" y="0"/>
                </a:moveTo>
                <a:lnTo>
                  <a:pt x="1531292" y="0"/>
                </a:lnTo>
                <a:lnTo>
                  <a:pt x="1531292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6854356"/>
            <a:ext cx="4145426" cy="3432644"/>
          </a:xfrm>
          <a:custGeom>
            <a:avLst/>
            <a:gdLst/>
            <a:ahLst/>
            <a:cxnLst/>
            <a:rect r="r" b="b" t="t" l="l"/>
            <a:pathLst>
              <a:path h="3432644" w="4145426">
                <a:moveTo>
                  <a:pt x="0" y="0"/>
                </a:moveTo>
                <a:lnTo>
                  <a:pt x="4145426" y="0"/>
                </a:lnTo>
                <a:lnTo>
                  <a:pt x="414542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8133399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39131" y="1558212"/>
            <a:ext cx="13243161" cy="90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21"/>
              </a:lnSpc>
            </a:pPr>
            <a:r>
              <a:rPr lang="en-US" sz="6821" spc="-203" b="true">
                <a:solidFill>
                  <a:srgbClr val="063A86"/>
                </a:solidFill>
                <a:latin typeface="Lato Bold"/>
                <a:ea typeface="Lato Bold"/>
                <a:cs typeface="Lato Bold"/>
                <a:sym typeface="Lato Bold"/>
              </a:rPr>
              <a:t>Chọn k = 4 bằng đánh giá đa tiêu chí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7770" y="2833569"/>
            <a:ext cx="14947962" cy="49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2837" indent="-351418" lvl="1">
              <a:lnSpc>
                <a:spcPts val="3908"/>
              </a:lnSpc>
              <a:buFont typeface="Arial"/>
              <a:buChar char="•"/>
            </a:pPr>
            <a:r>
              <a:rPr lang="en-US" sz="3256">
                <a:solidFill>
                  <a:srgbClr val="063A86"/>
                </a:solidFill>
                <a:latin typeface="Lato"/>
                <a:ea typeface="Lato"/>
                <a:cs typeface="Lato"/>
                <a:sym typeface="Lato"/>
              </a:rPr>
              <a:t>K-Means, GMM và DBSCAN được thử nghiệm để so sánh các cách phân cụm.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2922" y="3586611"/>
            <a:ext cx="10432808" cy="49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2837" indent="-351418" lvl="1">
              <a:lnSpc>
                <a:spcPts val="3908"/>
              </a:lnSpc>
              <a:buFont typeface="Arial"/>
              <a:buChar char="•"/>
            </a:pPr>
            <a:r>
              <a:rPr lang="en-US" sz="3256">
                <a:solidFill>
                  <a:srgbClr val="063A86"/>
                </a:solidFill>
                <a:latin typeface="Lato"/>
                <a:ea typeface="Lato"/>
                <a:cs typeface="Lato"/>
                <a:sym typeface="Lato"/>
              </a:rPr>
              <a:t>Với k = 4, Silhouette Score đạt mức cao nhất: 0,2413.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3496" y="4369774"/>
            <a:ext cx="16375377" cy="49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8194" indent="-344097" lvl="1">
              <a:lnSpc>
                <a:spcPts val="3827"/>
              </a:lnSpc>
              <a:buFont typeface="Arial"/>
              <a:buChar char="•"/>
            </a:pPr>
            <a:r>
              <a:rPr lang="en-US" sz="3189">
                <a:solidFill>
                  <a:srgbClr val="063A86"/>
                </a:solidFill>
                <a:latin typeface="Lato"/>
                <a:ea typeface="Lato"/>
                <a:cs typeface="Lato"/>
                <a:sym typeface="Lato"/>
              </a:rPr>
              <a:t>Davies–Bouldin Index thấp nhất ở k = 4: 1,1945; Elbow cũng cho thấy điểm uốn rõ rệt.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134488" y="5564382"/>
            <a:ext cx="10019024" cy="3443576"/>
          </a:xfrm>
          <a:custGeom>
            <a:avLst/>
            <a:gdLst/>
            <a:ahLst/>
            <a:cxnLst/>
            <a:rect r="r" b="b" t="t" l="l"/>
            <a:pathLst>
              <a:path h="3443576" w="10019024">
                <a:moveTo>
                  <a:pt x="0" y="0"/>
                </a:moveTo>
                <a:lnTo>
                  <a:pt x="10019024" y="0"/>
                </a:lnTo>
                <a:lnTo>
                  <a:pt x="10019024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967179" y="5911799"/>
            <a:ext cx="4190585" cy="2027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01"/>
              </a:lnSpc>
            </a:pPr>
            <a:r>
              <a:rPr lang="en-US" b="true" sz="15201" spc="2278">
                <a:solidFill>
                  <a:srgbClr val="F48338"/>
                </a:solidFill>
                <a:latin typeface="Lato Bold"/>
                <a:ea typeface="Lato Bold"/>
                <a:cs typeface="Lato Bold"/>
                <a:sym typeface="Lato Bold"/>
              </a:rPr>
              <a:t>k=4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98192" y="7809758"/>
            <a:ext cx="6128561" cy="635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2"/>
              </a:lnSpc>
            </a:pPr>
            <a:r>
              <a:rPr lang="en-US" b="true" sz="4872" spc="-145">
                <a:solidFill>
                  <a:srgbClr val="063A86"/>
                </a:solidFill>
                <a:latin typeface="Lato Bold"/>
                <a:ea typeface="Lato Bold"/>
                <a:cs typeface="Lato Bold"/>
                <a:sym typeface="Lato Bold"/>
              </a:rPr>
              <a:t>Số cụm được lựa chọn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17598" y="0"/>
            <a:ext cx="3270402" cy="2361309"/>
          </a:xfrm>
          <a:custGeom>
            <a:avLst/>
            <a:gdLst/>
            <a:ahLst/>
            <a:cxnLst/>
            <a:rect r="r" b="b" t="t" l="l"/>
            <a:pathLst>
              <a:path h="2361309" w="3270402">
                <a:moveTo>
                  <a:pt x="0" y="0"/>
                </a:moveTo>
                <a:lnTo>
                  <a:pt x="3270402" y="0"/>
                </a:lnTo>
                <a:lnTo>
                  <a:pt x="3270402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925691"/>
            <a:ext cx="3270402" cy="2361309"/>
          </a:xfrm>
          <a:custGeom>
            <a:avLst/>
            <a:gdLst/>
            <a:ahLst/>
            <a:cxnLst/>
            <a:rect r="r" b="b" t="t" l="l"/>
            <a:pathLst>
              <a:path h="2361309" w="3270402">
                <a:moveTo>
                  <a:pt x="0" y="0"/>
                </a:moveTo>
                <a:lnTo>
                  <a:pt x="3270402" y="0"/>
                </a:lnTo>
                <a:lnTo>
                  <a:pt x="3270402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1033" y="1363790"/>
            <a:ext cx="12337326" cy="72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9"/>
              </a:lnSpc>
            </a:pPr>
            <a:r>
              <a:rPr lang="en-US" sz="5429" spc="-108" b="true">
                <a:solidFill>
                  <a:srgbClr val="063682"/>
                </a:solidFill>
                <a:latin typeface="Lato Bold"/>
                <a:ea typeface="Lato Bold"/>
                <a:cs typeface="Lato Bold"/>
                <a:sym typeface="Lato Bold"/>
              </a:rPr>
              <a:t>Bốn phân khúc, bốn nhu cầu khác nhau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6574" y="2569017"/>
            <a:ext cx="9154938" cy="2579949"/>
          </a:xfrm>
          <a:custGeom>
            <a:avLst/>
            <a:gdLst/>
            <a:ahLst/>
            <a:cxnLst/>
            <a:rect r="r" b="b" t="t" l="l"/>
            <a:pathLst>
              <a:path h="2579949" w="9154938">
                <a:moveTo>
                  <a:pt x="0" y="0"/>
                </a:moveTo>
                <a:lnTo>
                  <a:pt x="9154938" y="0"/>
                </a:lnTo>
                <a:lnTo>
                  <a:pt x="915493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12928" y="2906846"/>
            <a:ext cx="3184574" cy="4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3619" spc="-72" b="true">
                <a:solidFill>
                  <a:srgbClr val="063682"/>
                </a:solidFill>
                <a:latin typeface="Lato Bold"/>
                <a:ea typeface="Lato Bold"/>
                <a:cs typeface="Lato Bold"/>
                <a:sym typeface="Lato Bold"/>
              </a:rPr>
              <a:t>VIP Champions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5033" y="3677947"/>
            <a:ext cx="974038" cy="45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2488" spc="-49" b="true">
                <a:solidFill>
                  <a:srgbClr val="FF8624"/>
                </a:solidFill>
                <a:latin typeface="Lato Bold"/>
                <a:ea typeface="Lato Bold"/>
                <a:cs typeface="Lato Bold"/>
                <a:sym typeface="Lato Bold"/>
              </a:rPr>
              <a:t>17,5%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84736" y="3740675"/>
            <a:ext cx="2095971" cy="42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3216" spc="-128" b="true">
                <a:solidFill>
                  <a:srgbClr val="FF8624"/>
                </a:solidFill>
                <a:latin typeface="Lato Bold"/>
                <a:ea typeface="Lato Bold"/>
                <a:cs typeface="Lato Bold"/>
                <a:sym typeface="Lato Bold"/>
              </a:rPr>
              <a:t>625,40 BRL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39802" y="4348483"/>
            <a:ext cx="1947157" cy="24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949" spc="-39">
                <a:solidFill>
                  <a:srgbClr val="063682"/>
                </a:solidFill>
                <a:latin typeface="Lato"/>
                <a:ea typeface="Lato"/>
                <a:cs typeface="Lato"/>
                <a:sym typeface="Lato"/>
              </a:rPr>
              <a:t>Chi tiêu trung bình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29252" y="3741906"/>
            <a:ext cx="1424810" cy="423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3216" spc="-128" b="true">
                <a:solidFill>
                  <a:srgbClr val="FF8624"/>
                </a:solidFill>
                <a:latin typeface="Lato Bold"/>
                <a:ea typeface="Lato Bold"/>
                <a:cs typeface="Lato Bold"/>
                <a:sym typeface="Lato Bold"/>
              </a:rPr>
              <a:t>4,21 sao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94968" y="4348483"/>
            <a:ext cx="926680" cy="24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949" spc="-39">
                <a:solidFill>
                  <a:srgbClr val="063682"/>
                </a:solidFill>
                <a:latin typeface="Lato"/>
                <a:ea typeface="Lato"/>
                <a:cs typeface="Lato"/>
                <a:sym typeface="Lato"/>
              </a:rPr>
              <a:t>Đánh giá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19193" y="3751652"/>
            <a:ext cx="1385427" cy="40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3216" spc="-128" b="true">
                <a:solidFill>
                  <a:srgbClr val="FF8624"/>
                </a:solidFill>
                <a:latin typeface="Lato Bold"/>
                <a:ea typeface="Lato Bold"/>
                <a:cs typeface="Lato Bold"/>
                <a:sym typeface="Lato Bold"/>
              </a:rPr>
              <a:t>trễ 5,1%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570574" y="2569017"/>
            <a:ext cx="8290852" cy="2579949"/>
          </a:xfrm>
          <a:custGeom>
            <a:avLst/>
            <a:gdLst/>
            <a:ahLst/>
            <a:cxnLst/>
            <a:rect r="r" b="b" t="t" l="l"/>
            <a:pathLst>
              <a:path h="2579949" w="8290852">
                <a:moveTo>
                  <a:pt x="0" y="0"/>
                </a:moveTo>
                <a:lnTo>
                  <a:pt x="8290852" y="0"/>
                </a:lnTo>
                <a:lnTo>
                  <a:pt x="829085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055848" y="2906846"/>
            <a:ext cx="4362895" cy="4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3619" spc="-72" b="true">
                <a:solidFill>
                  <a:srgbClr val="063682"/>
                </a:solidFill>
                <a:latin typeface="Lato Bold"/>
                <a:ea typeface="Lato Bold"/>
                <a:cs typeface="Lato Bold"/>
                <a:sym typeface="Lato Bold"/>
              </a:rPr>
              <a:t>Satisfied Mainstream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15398" y="3771207"/>
            <a:ext cx="1086740" cy="42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3216" spc="-128" b="true">
                <a:solidFill>
                  <a:srgbClr val="FF8624"/>
                </a:solidFill>
                <a:latin typeface="Lato Bold"/>
                <a:ea typeface="Lato Bold"/>
                <a:cs typeface="Lato Bold"/>
                <a:sym typeface="Lato Bold"/>
              </a:rPr>
              <a:t>50,2%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17621" y="4349233"/>
            <a:ext cx="864472" cy="24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889" spc="-37">
                <a:solidFill>
                  <a:srgbClr val="063682"/>
                </a:solidFill>
                <a:latin typeface="Lato"/>
                <a:ea typeface="Lato"/>
                <a:cs typeface="Lato"/>
                <a:sym typeface="Lato"/>
              </a:rPr>
              <a:t>Tỷ trọng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20451" y="3771207"/>
            <a:ext cx="2031450" cy="42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3216" spc="-128" b="true">
                <a:solidFill>
                  <a:srgbClr val="FF8624"/>
                </a:solidFill>
                <a:latin typeface="Lato Bold"/>
                <a:ea typeface="Lato Bold"/>
                <a:cs typeface="Lato Bold"/>
                <a:sym typeface="Lato Bold"/>
              </a:rPr>
              <a:t>148,80 BRL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21294" y="4348483"/>
            <a:ext cx="1947157" cy="24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949" spc="-39">
                <a:solidFill>
                  <a:srgbClr val="063682"/>
                </a:solidFill>
                <a:latin typeface="Lato"/>
                <a:ea typeface="Lato"/>
                <a:cs typeface="Lato"/>
                <a:sym typeface="Lato"/>
              </a:rPr>
              <a:t>Chi tiêu trung bình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10011" y="3770796"/>
            <a:ext cx="1498129" cy="42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3216" spc="-128" b="true">
                <a:solidFill>
                  <a:srgbClr val="FF8624"/>
                </a:solidFill>
                <a:latin typeface="Lato Bold"/>
                <a:ea typeface="Lato Bold"/>
                <a:cs typeface="Lato Bold"/>
                <a:sym typeface="Lato Bold"/>
              </a:rPr>
              <a:t>4,32 sao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26574" y="5356674"/>
            <a:ext cx="9154938" cy="2787657"/>
          </a:xfrm>
          <a:custGeom>
            <a:avLst/>
            <a:gdLst/>
            <a:ahLst/>
            <a:cxnLst/>
            <a:rect r="r" b="b" t="t" l="l"/>
            <a:pathLst>
              <a:path h="2787657" w="9154938">
                <a:moveTo>
                  <a:pt x="0" y="0"/>
                </a:moveTo>
                <a:lnTo>
                  <a:pt x="9154938" y="0"/>
                </a:lnTo>
                <a:lnTo>
                  <a:pt x="9154938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55248" y="5828649"/>
            <a:ext cx="3594693" cy="4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3619" spc="-72" b="true">
                <a:solidFill>
                  <a:srgbClr val="063682"/>
                </a:solidFill>
                <a:latin typeface="Lato Bold"/>
                <a:ea typeface="Lato Bold"/>
                <a:cs typeface="Lato Bold"/>
                <a:sym typeface="Lato Bold"/>
              </a:rPr>
              <a:t>Freight-Sensitive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7331" y="6648648"/>
            <a:ext cx="1065372" cy="423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3216" spc="-128" b="true">
                <a:solidFill>
                  <a:srgbClr val="FF8624"/>
                </a:solidFill>
                <a:latin typeface="Lato Bold"/>
                <a:ea typeface="Lato Bold"/>
                <a:cs typeface="Lato Bold"/>
                <a:sym typeface="Lato Bold"/>
              </a:rPr>
              <a:t>24,5%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33457" y="6647417"/>
            <a:ext cx="1865970" cy="42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3216" spc="-128" b="true">
                <a:solidFill>
                  <a:srgbClr val="FF8624"/>
                </a:solidFill>
                <a:latin typeface="Lato Bold"/>
                <a:ea typeface="Lato Bold"/>
                <a:cs typeface="Lato Bold"/>
                <a:sym typeface="Lato Bold"/>
              </a:rPr>
              <a:t>59,20 BRL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632646" y="7240165"/>
            <a:ext cx="1947157" cy="24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949" spc="-39">
                <a:solidFill>
                  <a:srgbClr val="063682"/>
                </a:solidFill>
                <a:latin typeface="Lato"/>
                <a:ea typeface="Lato"/>
                <a:cs typeface="Lato"/>
                <a:sym typeface="Lato"/>
              </a:rPr>
              <a:t>Chi tiêu trung bình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888033" y="6648648"/>
            <a:ext cx="1436541" cy="423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3216" spc="-128" b="true">
                <a:solidFill>
                  <a:srgbClr val="FF8624"/>
                </a:solidFill>
                <a:latin typeface="Lato Bold"/>
                <a:ea typeface="Lato Bold"/>
                <a:cs typeface="Lato Bold"/>
                <a:sym typeface="Lato Bold"/>
              </a:rPr>
              <a:t>4,15 sao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053866" y="7240165"/>
            <a:ext cx="926680" cy="24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949" spc="-39">
                <a:solidFill>
                  <a:srgbClr val="063682"/>
                </a:solidFill>
                <a:latin typeface="Lato"/>
                <a:ea typeface="Lato"/>
                <a:cs typeface="Lato"/>
                <a:sym typeface="Lato"/>
              </a:rPr>
              <a:t>Đánh giá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97273" y="6646944"/>
            <a:ext cx="2678204" cy="4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3216" spc="-128" b="true">
                <a:solidFill>
                  <a:srgbClr val="FF8624"/>
                </a:solidFill>
                <a:latin typeface="Lato Bold"/>
                <a:ea typeface="Lato Bold"/>
                <a:cs typeface="Lato Bold"/>
                <a:sym typeface="Lato Bold"/>
              </a:rPr>
              <a:t>ship/đơn 38,7%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10441" y="7240415"/>
            <a:ext cx="829289" cy="24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29" spc="-38">
                <a:solidFill>
                  <a:srgbClr val="063682"/>
                </a:solidFill>
                <a:latin typeface="Lato"/>
                <a:ea typeface="Lato"/>
                <a:cs typeface="Lato"/>
                <a:sym typeface="Lato"/>
              </a:rPr>
              <a:t>Giao trễ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570574" y="5356674"/>
            <a:ext cx="8290852" cy="2787657"/>
          </a:xfrm>
          <a:custGeom>
            <a:avLst/>
            <a:gdLst/>
            <a:ahLst/>
            <a:cxnLst/>
            <a:rect r="r" b="b" t="t" l="l"/>
            <a:pathLst>
              <a:path h="2787657" w="8290852">
                <a:moveTo>
                  <a:pt x="0" y="0"/>
                </a:moveTo>
                <a:lnTo>
                  <a:pt x="8290852" y="0"/>
                </a:lnTo>
                <a:lnTo>
                  <a:pt x="8290852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066329" y="5828649"/>
            <a:ext cx="3314785" cy="4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3619" spc="-72" b="true">
                <a:solidFill>
                  <a:srgbClr val="063682"/>
                </a:solidFill>
                <a:latin typeface="Lato Bold"/>
                <a:ea typeface="Lato Bold"/>
                <a:cs typeface="Lato Bold"/>
                <a:sym typeface="Lato Bold"/>
              </a:rPr>
              <a:t>At-Risk Delivery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117975" y="6658394"/>
            <a:ext cx="829087" cy="40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3216" spc="-128" b="true">
                <a:solidFill>
                  <a:srgbClr val="FF8624"/>
                </a:solidFill>
                <a:latin typeface="Lato Bold"/>
                <a:ea typeface="Lato Bold"/>
                <a:cs typeface="Lato Bold"/>
                <a:sym typeface="Lato Bold"/>
              </a:rPr>
              <a:t>7,8%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607106" y="6658394"/>
            <a:ext cx="1934669" cy="40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3216" spc="-128" b="true">
                <a:solidFill>
                  <a:srgbClr val="FF8624"/>
                </a:solidFill>
                <a:latin typeface="Lato Bold"/>
                <a:ea typeface="Lato Bold"/>
                <a:cs typeface="Lato Bold"/>
                <a:sym typeface="Lato Bold"/>
              </a:rPr>
              <a:t>182,10 BRL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660560" y="7240165"/>
            <a:ext cx="1947157" cy="24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949" spc="-39">
                <a:solidFill>
                  <a:srgbClr val="063682"/>
                </a:solidFill>
                <a:latin typeface="Lato"/>
                <a:ea typeface="Lato"/>
                <a:cs typeface="Lato"/>
                <a:sym typeface="Lato"/>
              </a:rPr>
              <a:t>Chi tiêu trung bình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996549" y="6648648"/>
            <a:ext cx="1413079" cy="423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3216" spc="-128" b="true">
                <a:solidFill>
                  <a:srgbClr val="FF8624"/>
                </a:solidFill>
                <a:latin typeface="Lato Bold"/>
                <a:ea typeface="Lato Bold"/>
                <a:cs typeface="Lato Bold"/>
                <a:sym typeface="Lato Bold"/>
              </a:rPr>
              <a:t>1,74 sao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934292" y="6648648"/>
            <a:ext cx="1567678" cy="423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16"/>
              </a:lnSpc>
            </a:pPr>
            <a:r>
              <a:rPr lang="en-US" b="true" sz="3216" spc="-128">
                <a:solidFill>
                  <a:srgbClr val="FF8624"/>
                </a:solidFill>
                <a:latin typeface="Lato Bold"/>
                <a:ea typeface="Lato Bold"/>
                <a:cs typeface="Lato Bold"/>
                <a:sym typeface="Lato Bold"/>
              </a:rPr>
              <a:t>trễ 100%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003201" y="8465090"/>
            <a:ext cx="6066572" cy="392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sz="2488" spc="-49">
                <a:solidFill>
                  <a:srgbClr val="063682"/>
                </a:solidFill>
                <a:latin typeface="Lato"/>
                <a:ea typeface="Lato"/>
                <a:cs typeface="Lato"/>
                <a:sym typeface="Lato"/>
              </a:rPr>
              <a:t>Tỷ trọng, chi tiêu trung bình, đánh giá và giao trễ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349671" y="4348483"/>
            <a:ext cx="926680" cy="24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949" spc="-39">
                <a:solidFill>
                  <a:srgbClr val="063682"/>
                </a:solidFill>
                <a:latin typeface="Lato"/>
                <a:ea typeface="Lato"/>
                <a:cs typeface="Lato"/>
                <a:sym typeface="Lato"/>
              </a:rPr>
              <a:t>Đánh giá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62918" y="4349233"/>
            <a:ext cx="864472" cy="24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889" spc="-37">
                <a:solidFill>
                  <a:srgbClr val="063682"/>
                </a:solidFill>
                <a:latin typeface="Lato"/>
                <a:ea typeface="Lato"/>
                <a:cs typeface="Lato"/>
                <a:sym typeface="Lato"/>
              </a:rPr>
              <a:t>Tỷ trọng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251543" y="4348733"/>
            <a:ext cx="829289" cy="24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29" spc="-38">
                <a:solidFill>
                  <a:srgbClr val="063682"/>
                </a:solidFill>
                <a:latin typeface="Lato"/>
                <a:ea typeface="Lato"/>
                <a:cs typeface="Lato"/>
                <a:sym typeface="Lato"/>
              </a:rPr>
              <a:t>Giao trễ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279457" y="4348733"/>
            <a:ext cx="829289" cy="24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29" spc="-38">
                <a:solidFill>
                  <a:srgbClr val="063682"/>
                </a:solidFill>
                <a:latin typeface="Lato"/>
                <a:ea typeface="Lato"/>
                <a:cs typeface="Lato"/>
                <a:sym typeface="Lato"/>
              </a:rPr>
              <a:t>Giao trễ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135358" y="7240165"/>
            <a:ext cx="926680" cy="24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949" spc="-39">
                <a:solidFill>
                  <a:srgbClr val="063682"/>
                </a:solidFill>
                <a:latin typeface="Lato"/>
                <a:ea typeface="Lato"/>
                <a:cs typeface="Lato"/>
                <a:sym typeface="Lato"/>
              </a:rPr>
              <a:t>Đánh giá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09340" y="7240915"/>
            <a:ext cx="864472" cy="24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889" spc="-37">
                <a:solidFill>
                  <a:srgbClr val="063682"/>
                </a:solidFill>
                <a:latin typeface="Lato"/>
                <a:ea typeface="Lato"/>
                <a:cs typeface="Lato"/>
                <a:sym typeface="Lato"/>
              </a:rPr>
              <a:t>Tỷ trọng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117621" y="7240915"/>
            <a:ext cx="864472" cy="24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889" spc="-37">
                <a:solidFill>
                  <a:srgbClr val="063682"/>
                </a:solidFill>
                <a:latin typeface="Lato"/>
                <a:ea typeface="Lato"/>
                <a:cs typeface="Lato"/>
                <a:sym typeface="Lato"/>
              </a:rPr>
              <a:t>Tỷ trọng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416241" y="3772028"/>
            <a:ext cx="545471" cy="423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3216" spc="-128" b="true">
                <a:solidFill>
                  <a:srgbClr val="FF8624"/>
                </a:solidFill>
                <a:latin typeface="Lato Bold"/>
                <a:ea typeface="Lato Bold"/>
                <a:cs typeface="Lato Bold"/>
                <a:sym typeface="Lato Bold"/>
              </a:rPr>
              <a:t>0%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038356" y="7240415"/>
            <a:ext cx="829289" cy="24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29" spc="-38">
                <a:solidFill>
                  <a:srgbClr val="063682"/>
                </a:solidFill>
                <a:latin typeface="Lato"/>
                <a:ea typeface="Lato"/>
                <a:cs typeface="Lato"/>
                <a:sym typeface="Lato"/>
              </a:rPr>
              <a:t>Giao trễ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17598" y="0"/>
            <a:ext cx="3270402" cy="2361309"/>
          </a:xfrm>
          <a:custGeom>
            <a:avLst/>
            <a:gdLst/>
            <a:ahLst/>
            <a:cxnLst/>
            <a:rect r="r" b="b" t="t" l="l"/>
            <a:pathLst>
              <a:path h="2361309" w="3270402">
                <a:moveTo>
                  <a:pt x="0" y="0"/>
                </a:moveTo>
                <a:lnTo>
                  <a:pt x="3270402" y="0"/>
                </a:lnTo>
                <a:lnTo>
                  <a:pt x="3270402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707051"/>
            <a:ext cx="3051646" cy="2579949"/>
          </a:xfrm>
          <a:custGeom>
            <a:avLst/>
            <a:gdLst/>
            <a:ahLst/>
            <a:cxnLst/>
            <a:rect r="r" b="b" t="t" l="l"/>
            <a:pathLst>
              <a:path h="2579949" w="3051646">
                <a:moveTo>
                  <a:pt x="0" y="0"/>
                </a:moveTo>
                <a:lnTo>
                  <a:pt x="3051646" y="0"/>
                </a:lnTo>
                <a:lnTo>
                  <a:pt x="305164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21134" y="1358208"/>
            <a:ext cx="15042831" cy="96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6386" b="true">
                <a:solidFill>
                  <a:srgbClr val="072F7D"/>
                </a:solidFill>
                <a:latin typeface="Lato Heavy"/>
                <a:ea typeface="Lato Heavy"/>
                <a:cs typeface="Lato Heavy"/>
                <a:sym typeface="Lato Heavy"/>
              </a:rPr>
              <a:t>Vì sao Olist cần thêm chiều trải nghiệm?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2776725"/>
            <a:ext cx="8279914" cy="6012593"/>
          </a:xfrm>
          <a:custGeom>
            <a:avLst/>
            <a:gdLst/>
            <a:ahLst/>
            <a:cxnLst/>
            <a:rect r="r" b="b" t="t" l="l"/>
            <a:pathLst>
              <a:path h="6012593" w="8279914">
                <a:moveTo>
                  <a:pt x="0" y="0"/>
                </a:moveTo>
                <a:lnTo>
                  <a:pt x="8279914" y="0"/>
                </a:lnTo>
                <a:lnTo>
                  <a:pt x="8279914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33941" y="3502384"/>
            <a:ext cx="1450416" cy="77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1"/>
              </a:lnSpc>
            </a:pPr>
            <a:r>
              <a:rPr lang="en-US" sz="5150" b="true">
                <a:solidFill>
                  <a:srgbClr val="072F7D"/>
                </a:solidFill>
                <a:latin typeface="Lato Heavy"/>
                <a:ea typeface="Lato Heavy"/>
                <a:cs typeface="Lato Heavy"/>
                <a:sym typeface="Lato Heavy"/>
              </a:rPr>
              <a:t>Olist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45232" y="4445680"/>
            <a:ext cx="3000195" cy="1748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84"/>
              </a:lnSpc>
            </a:pPr>
            <a:r>
              <a:rPr lang="en-US" sz="11485" b="true">
                <a:solidFill>
                  <a:srgbClr val="FB7B12"/>
                </a:solidFill>
                <a:latin typeface="Lato Heavy"/>
                <a:ea typeface="Lato Heavy"/>
                <a:cs typeface="Lato Heavy"/>
                <a:sym typeface="Lato Heavy"/>
              </a:rPr>
              <a:t>97%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17481" y="6205095"/>
            <a:ext cx="5775354" cy="176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7"/>
              </a:lnSpc>
            </a:pPr>
            <a:r>
              <a:rPr lang="en-US" sz="3637">
                <a:solidFill>
                  <a:srgbClr val="072F7D"/>
                </a:solidFill>
                <a:latin typeface="Lato"/>
                <a:ea typeface="Lato"/>
                <a:cs typeface="Lato"/>
                <a:sym typeface="Lato"/>
              </a:rPr>
              <a:t>khách hàng chỉ mua một lần; phân hóa nổi bật ở chi tiêu,</a:t>
            </a:r>
          </a:p>
          <a:p>
            <a:pPr algn="l">
              <a:lnSpc>
                <a:spcPts val="4727"/>
              </a:lnSpc>
            </a:pPr>
            <a:r>
              <a:rPr lang="en-US" sz="3637">
                <a:solidFill>
                  <a:srgbClr val="072F7D"/>
                </a:solidFill>
                <a:latin typeface="Lato"/>
                <a:ea typeface="Lato"/>
                <a:cs typeface="Lato"/>
                <a:sym typeface="Lato"/>
              </a:rPr>
              <a:t>phí vận chuyển và giao trễ.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351818" y="2776725"/>
            <a:ext cx="8072096" cy="6012593"/>
          </a:xfrm>
          <a:custGeom>
            <a:avLst/>
            <a:gdLst/>
            <a:ahLst/>
            <a:cxnLst/>
            <a:rect r="r" b="b" t="t" l="l"/>
            <a:pathLst>
              <a:path h="6012593" w="8072096">
                <a:moveTo>
                  <a:pt x="0" y="0"/>
                </a:moveTo>
                <a:lnTo>
                  <a:pt x="8072096" y="0"/>
                </a:lnTo>
                <a:lnTo>
                  <a:pt x="8072096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134885" y="3502384"/>
            <a:ext cx="4495888" cy="77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1"/>
              </a:lnSpc>
            </a:pPr>
            <a:r>
              <a:rPr lang="en-US" sz="5150" b="true">
                <a:solidFill>
                  <a:srgbClr val="072F7D"/>
                </a:solidFill>
                <a:latin typeface="Lato Heavy"/>
                <a:ea typeface="Lato Heavy"/>
                <a:cs typeface="Lato Heavy"/>
                <a:sym typeface="Lato Heavy"/>
              </a:rPr>
              <a:t>Online Retail II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43322" y="4445680"/>
            <a:ext cx="6331072" cy="1748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84"/>
              </a:lnSpc>
            </a:pPr>
            <a:r>
              <a:rPr lang="en-US" sz="11485" b="true">
                <a:solidFill>
                  <a:srgbClr val="FB7B12"/>
                </a:solidFill>
                <a:latin typeface="Lato Heavy"/>
                <a:ea typeface="Lato Heavy"/>
                <a:cs typeface="Lato Heavy"/>
                <a:sym typeface="Lato Heavy"/>
              </a:rPr>
              <a:t>Hơn 70%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50033" y="6270818"/>
            <a:ext cx="5660028" cy="1707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4"/>
              </a:lnSpc>
            </a:pPr>
            <a:r>
              <a:rPr lang="en-US" sz="3526">
                <a:solidFill>
                  <a:srgbClr val="072F7D"/>
                </a:solidFill>
                <a:latin typeface="Lato"/>
                <a:ea typeface="Lato"/>
                <a:cs typeface="Lato"/>
                <a:sym typeface="Lato"/>
              </a:rPr>
              <a:t>khách hàng mua lặp lại;</a:t>
            </a:r>
          </a:p>
          <a:p>
            <a:pPr algn="l">
              <a:lnSpc>
                <a:spcPts val="4584"/>
              </a:lnSpc>
            </a:pPr>
            <a:r>
              <a:rPr lang="en-US" sz="3526">
                <a:solidFill>
                  <a:srgbClr val="072F7D"/>
                </a:solidFill>
                <a:latin typeface="Lato"/>
                <a:ea typeface="Lato"/>
                <a:cs typeface="Lato"/>
                <a:sym typeface="Lato"/>
              </a:rPr>
              <a:t>Frequency hổ trợ phân khúc</a:t>
            </a:r>
          </a:p>
          <a:p>
            <a:pPr algn="l">
              <a:lnSpc>
                <a:spcPts val="4584"/>
              </a:lnSpc>
            </a:pPr>
            <a:r>
              <a:rPr lang="en-US" sz="3526">
                <a:solidFill>
                  <a:srgbClr val="072F7D"/>
                </a:solidFill>
                <a:latin typeface="Lato"/>
                <a:ea typeface="Lato"/>
                <a:cs typeface="Lato"/>
                <a:sym typeface="Lato"/>
              </a:rPr>
              <a:t>RFM truyền thống.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97244" y="0"/>
            <a:ext cx="4790756" cy="2579949"/>
          </a:xfrm>
          <a:custGeom>
            <a:avLst/>
            <a:gdLst/>
            <a:ahLst/>
            <a:cxnLst/>
            <a:rect r="r" b="b" t="t" l="l"/>
            <a:pathLst>
              <a:path h="2579949" w="4790756">
                <a:moveTo>
                  <a:pt x="0" y="0"/>
                </a:moveTo>
                <a:lnTo>
                  <a:pt x="4790756" y="0"/>
                </a:lnTo>
                <a:lnTo>
                  <a:pt x="479075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19196" y="0"/>
            <a:ext cx="1968804" cy="2153601"/>
          </a:xfrm>
          <a:custGeom>
            <a:avLst/>
            <a:gdLst/>
            <a:ahLst/>
            <a:cxnLst/>
            <a:rect r="r" b="b" t="t" l="l"/>
            <a:pathLst>
              <a:path h="2153601" w="1968804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280704"/>
            <a:ext cx="4364182" cy="3006296"/>
          </a:xfrm>
          <a:custGeom>
            <a:avLst/>
            <a:gdLst/>
            <a:ahLst/>
            <a:cxnLst/>
            <a:rect r="r" b="b" t="t" l="l"/>
            <a:pathLst>
              <a:path h="3006296" w="4364182">
                <a:moveTo>
                  <a:pt x="0" y="0"/>
                </a:moveTo>
                <a:lnTo>
                  <a:pt x="4364182" y="0"/>
                </a:lnTo>
                <a:lnTo>
                  <a:pt x="436418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78399" y="1488373"/>
            <a:ext cx="11995239" cy="830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4"/>
              </a:lnSpc>
            </a:pPr>
            <a:r>
              <a:rPr lang="en-US" sz="6264" spc="-125" b="true">
                <a:solidFill>
                  <a:srgbClr val="063284"/>
                </a:solidFill>
                <a:latin typeface="Lato Bold"/>
                <a:ea typeface="Lato Bold"/>
                <a:cs typeface="Lato Bold"/>
                <a:sym typeface="Lato Bold"/>
              </a:rPr>
              <a:t>Biến phân khúc thành hành động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957866" y="2569017"/>
            <a:ext cx="2614134" cy="2579949"/>
          </a:xfrm>
          <a:custGeom>
            <a:avLst/>
            <a:gdLst/>
            <a:ahLst/>
            <a:cxnLst/>
            <a:rect r="r" b="b" t="t" l="l"/>
            <a:pathLst>
              <a:path h="2579949" w="2614134">
                <a:moveTo>
                  <a:pt x="0" y="0"/>
                </a:moveTo>
                <a:lnTo>
                  <a:pt x="2614134" y="0"/>
                </a:lnTo>
                <a:lnTo>
                  <a:pt x="261413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15732" y="3421712"/>
            <a:ext cx="2625072" cy="1300906"/>
          </a:xfrm>
          <a:custGeom>
            <a:avLst/>
            <a:gdLst/>
            <a:ahLst/>
            <a:cxnLst/>
            <a:rect r="r" b="b" t="t" l="l"/>
            <a:pathLst>
              <a:path h="1300906" w="2625072">
                <a:moveTo>
                  <a:pt x="0" y="0"/>
                </a:moveTo>
                <a:lnTo>
                  <a:pt x="2625072" y="0"/>
                </a:lnTo>
                <a:lnTo>
                  <a:pt x="262507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25683" y="5241463"/>
            <a:ext cx="5303576" cy="1351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b="true" sz="2488" spc="-49">
                <a:solidFill>
                  <a:srgbClr val="063284"/>
                </a:solidFill>
                <a:latin typeface="Lato Bold"/>
                <a:ea typeface="Lato Bold"/>
                <a:cs typeface="Lato Bold"/>
                <a:sym typeface="Lato Bold"/>
              </a:rPr>
              <a:t>1. Cảnh báo sớm đơn có</a:t>
            </a:r>
          </a:p>
          <a:p>
            <a:pPr algn="l">
              <a:lnSpc>
                <a:spcPts val="3484"/>
              </a:lnSpc>
            </a:pPr>
            <a:r>
              <a:rPr lang="en-US" b="true" sz="2488" spc="-49">
                <a:solidFill>
                  <a:srgbClr val="063284"/>
                </a:solidFill>
                <a:latin typeface="Lato Bold"/>
                <a:ea typeface="Lato Bold"/>
                <a:cs typeface="Lato Bold"/>
                <a:sym typeface="Lato Bold"/>
              </a:rPr>
              <a:t>nguy cơ lưu kho lâu; chủ động</a:t>
            </a:r>
          </a:p>
          <a:p>
            <a:pPr algn="l">
              <a:lnSpc>
                <a:spcPts val="3484"/>
              </a:lnSpc>
            </a:pPr>
            <a:r>
              <a:rPr lang="en-US" b="true" sz="2488" spc="-49">
                <a:solidFill>
                  <a:srgbClr val="063284"/>
                </a:solidFill>
                <a:latin typeface="Lato Bold"/>
                <a:ea typeface="Lato Bold"/>
                <a:cs typeface="Lato Bold"/>
                <a:sym typeface="Lato Bold"/>
              </a:rPr>
              <a:t>liên hệ khi vượt ngày giao dự kiến.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831464" y="2569017"/>
            <a:ext cx="2625072" cy="2579949"/>
          </a:xfrm>
          <a:custGeom>
            <a:avLst/>
            <a:gdLst/>
            <a:ahLst/>
            <a:cxnLst/>
            <a:rect r="r" b="b" t="t" l="l"/>
            <a:pathLst>
              <a:path h="2579949" w="2625072">
                <a:moveTo>
                  <a:pt x="0" y="0"/>
                </a:moveTo>
                <a:lnTo>
                  <a:pt x="2625072" y="0"/>
                </a:lnTo>
                <a:lnTo>
                  <a:pt x="262507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767650" y="3362795"/>
            <a:ext cx="672153" cy="1298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5"/>
              </a:lnSpc>
            </a:pPr>
            <a:r>
              <a:rPr lang="en-US" b="true" sz="9745" spc="-195">
                <a:solidFill>
                  <a:srgbClr val="FD8028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092354" y="3421712"/>
            <a:ext cx="2625072" cy="1300906"/>
          </a:xfrm>
          <a:custGeom>
            <a:avLst/>
            <a:gdLst/>
            <a:ahLst/>
            <a:cxnLst/>
            <a:rect r="r" b="b" t="t" l="l"/>
            <a:pathLst>
              <a:path h="1300906" w="2625072">
                <a:moveTo>
                  <a:pt x="0" y="0"/>
                </a:moveTo>
                <a:lnTo>
                  <a:pt x="2625072" y="0"/>
                </a:lnTo>
                <a:lnTo>
                  <a:pt x="262507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973212" y="5260549"/>
            <a:ext cx="4552282" cy="1848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1"/>
              </a:lnSpc>
            </a:pPr>
            <a:r>
              <a:rPr lang="en-US" b="true" sz="2847" spc="-57">
                <a:solidFill>
                  <a:srgbClr val="063284"/>
                </a:solidFill>
                <a:latin typeface="Lato Bold"/>
                <a:ea typeface="Lato Bold"/>
                <a:cs typeface="Lato Bold"/>
                <a:sym typeface="Lato Bold"/>
              </a:rPr>
              <a:t>2. Hỗ trợ phí vận chuyển</a:t>
            </a:r>
          </a:p>
          <a:p>
            <a:pPr algn="l">
              <a:lnSpc>
                <a:spcPts val="3701"/>
              </a:lnSpc>
            </a:pPr>
            <a:r>
              <a:rPr lang="en-US" b="true" sz="2847" spc="-57">
                <a:solidFill>
                  <a:srgbClr val="063284"/>
                </a:solidFill>
                <a:latin typeface="Lato Bold"/>
                <a:ea typeface="Lato Bold"/>
                <a:cs typeface="Lato Bold"/>
                <a:sym typeface="Lato Bold"/>
              </a:rPr>
              <a:t>cho nhóm Freight-Sensitive và triển khai chương trình</a:t>
            </a:r>
          </a:p>
          <a:p>
            <a:pPr algn="l">
              <a:lnSpc>
                <a:spcPts val="3701"/>
              </a:lnSpc>
            </a:pPr>
            <a:r>
              <a:rPr lang="en-US" b="true" sz="2847" spc="-57">
                <a:solidFill>
                  <a:srgbClr val="063284"/>
                </a:solidFill>
                <a:latin typeface="Lato Bold"/>
                <a:ea typeface="Lato Bold"/>
                <a:cs typeface="Lato Bold"/>
                <a:sym typeface="Lato Bold"/>
              </a:rPr>
              <a:t>phù hợp với VIP Champions.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965952" y="3421712"/>
            <a:ext cx="2625072" cy="1300906"/>
          </a:xfrm>
          <a:custGeom>
            <a:avLst/>
            <a:gdLst/>
            <a:ahLst/>
            <a:cxnLst/>
            <a:rect r="r" b="b" t="t" l="l"/>
            <a:pathLst>
              <a:path h="1300906" w="2625072">
                <a:moveTo>
                  <a:pt x="0" y="0"/>
                </a:moveTo>
                <a:lnTo>
                  <a:pt x="2625072" y="0"/>
                </a:lnTo>
                <a:lnTo>
                  <a:pt x="262507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716000" y="2569017"/>
            <a:ext cx="2614134" cy="2579949"/>
          </a:xfrm>
          <a:custGeom>
            <a:avLst/>
            <a:gdLst/>
            <a:ahLst/>
            <a:cxnLst/>
            <a:rect r="r" b="b" t="t" l="l"/>
            <a:pathLst>
              <a:path h="2579949" w="2614134">
                <a:moveTo>
                  <a:pt x="0" y="0"/>
                </a:moveTo>
                <a:lnTo>
                  <a:pt x="2614134" y="0"/>
                </a:lnTo>
                <a:lnTo>
                  <a:pt x="261413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656780" y="3377856"/>
            <a:ext cx="681082" cy="1298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5"/>
              </a:lnSpc>
            </a:pPr>
            <a:r>
              <a:rPr lang="en-US" b="true" sz="9745" spc="-195">
                <a:solidFill>
                  <a:srgbClr val="004AAD"/>
                </a:solidFill>
                <a:latin typeface="Lato Bold"/>
                <a:ea typeface="Lato Bold"/>
                <a:cs typeface="Lato Bold"/>
                <a:sym typeface="Lato Bold"/>
              </a:rPr>
              <a:t>3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716000" y="3421712"/>
            <a:ext cx="3926670" cy="1300906"/>
          </a:xfrm>
          <a:custGeom>
            <a:avLst/>
            <a:gdLst/>
            <a:ahLst/>
            <a:cxnLst/>
            <a:rect r="r" b="b" t="t" l="l"/>
            <a:pathLst>
              <a:path h="1300906" w="3926670">
                <a:moveTo>
                  <a:pt x="0" y="0"/>
                </a:moveTo>
                <a:lnTo>
                  <a:pt x="3926670" y="0"/>
                </a:lnTo>
                <a:lnTo>
                  <a:pt x="392667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734742" y="5250951"/>
            <a:ext cx="4364084" cy="192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b="true" sz="3023" spc="-60">
                <a:solidFill>
                  <a:srgbClr val="063284"/>
                </a:solidFill>
                <a:latin typeface="Lato Bold"/>
                <a:ea typeface="Lato Bold"/>
                <a:cs typeface="Lato Bold"/>
                <a:sym typeface="Lato Bold"/>
              </a:rPr>
              <a:t>3. Thử nghiệm email xin lỗi kèm voucher 15% với nhóm At-Risk, đo mở thư, CTR, chuyển đổi và CAC.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0" y="7499343"/>
            <a:ext cx="17642670" cy="1716322"/>
          </a:xfrm>
          <a:custGeom>
            <a:avLst/>
            <a:gdLst/>
            <a:ahLst/>
            <a:cxnLst/>
            <a:rect r="r" b="b" t="t" l="l"/>
            <a:pathLst>
              <a:path h="1716322" w="17642670">
                <a:moveTo>
                  <a:pt x="0" y="0"/>
                </a:moveTo>
                <a:lnTo>
                  <a:pt x="17642670" y="0"/>
                </a:lnTo>
                <a:lnTo>
                  <a:pt x="17642670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454924" y="8061714"/>
            <a:ext cx="12215400" cy="54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6"/>
              </a:lnSpc>
            </a:pPr>
            <a:r>
              <a:rPr lang="en-US" b="true" sz="4176" spc="-83">
                <a:solidFill>
                  <a:srgbClr val="FD8028"/>
                </a:solidFill>
                <a:latin typeface="Lato Bold"/>
                <a:ea typeface="Lato Bold"/>
                <a:cs typeface="Lato Bold"/>
                <a:sym typeface="Lato Bold"/>
              </a:rPr>
              <a:t>Từ phát hiện dữ liệu đến can thiệp có thể đo lường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07987" y="3362795"/>
            <a:ext cx="457871" cy="1298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5"/>
              </a:lnSpc>
            </a:pPr>
            <a:r>
              <a:rPr lang="en-US" b="true" sz="9745" spc="-195">
                <a:solidFill>
                  <a:srgbClr val="004AAD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23818" y="0"/>
            <a:ext cx="4364182" cy="10287000"/>
          </a:xfrm>
          <a:custGeom>
            <a:avLst/>
            <a:gdLst/>
            <a:ahLst/>
            <a:cxnLst/>
            <a:rect r="r" b="b" t="t" l="l"/>
            <a:pathLst>
              <a:path h="10287000" w="4364182">
                <a:moveTo>
                  <a:pt x="0" y="0"/>
                </a:moveTo>
                <a:lnTo>
                  <a:pt x="4364182" y="0"/>
                </a:lnTo>
                <a:lnTo>
                  <a:pt x="43641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17598" y="852695"/>
            <a:ext cx="3270402" cy="8362970"/>
          </a:xfrm>
          <a:custGeom>
            <a:avLst/>
            <a:gdLst/>
            <a:ahLst/>
            <a:cxnLst/>
            <a:rect r="r" b="b" t="t" l="l"/>
            <a:pathLst>
              <a:path h="8362970" w="3270402">
                <a:moveTo>
                  <a:pt x="0" y="0"/>
                </a:moveTo>
                <a:lnTo>
                  <a:pt x="3270402" y="0"/>
                </a:lnTo>
                <a:lnTo>
                  <a:pt x="3270402" y="8362970"/>
                </a:lnTo>
                <a:lnTo>
                  <a:pt x="0" y="8362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19196" y="2142670"/>
            <a:ext cx="1968804" cy="2579949"/>
          </a:xfrm>
          <a:custGeom>
            <a:avLst/>
            <a:gdLst/>
            <a:ahLst/>
            <a:cxnLst/>
            <a:rect r="r" b="b" t="t" l="l"/>
            <a:pathLst>
              <a:path h="2579949" w="1968804">
                <a:moveTo>
                  <a:pt x="0" y="0"/>
                </a:moveTo>
                <a:lnTo>
                  <a:pt x="1968804" y="0"/>
                </a:lnTo>
                <a:lnTo>
                  <a:pt x="1968804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75464" y="4711687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56708" y="5356674"/>
            <a:ext cx="1531292" cy="2361309"/>
          </a:xfrm>
          <a:custGeom>
            <a:avLst/>
            <a:gdLst/>
            <a:ahLst/>
            <a:cxnLst/>
            <a:rect r="r" b="b" t="t" l="l"/>
            <a:pathLst>
              <a:path h="2361309" w="1531292">
                <a:moveTo>
                  <a:pt x="0" y="0"/>
                </a:moveTo>
                <a:lnTo>
                  <a:pt x="1531292" y="0"/>
                </a:lnTo>
                <a:lnTo>
                  <a:pt x="1531292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7707051"/>
            <a:ext cx="3707914" cy="2579949"/>
          </a:xfrm>
          <a:custGeom>
            <a:avLst/>
            <a:gdLst/>
            <a:ahLst/>
            <a:cxnLst/>
            <a:rect r="r" b="b" t="t" l="l"/>
            <a:pathLst>
              <a:path h="2579949" w="3707914">
                <a:moveTo>
                  <a:pt x="0" y="0"/>
                </a:moveTo>
                <a:lnTo>
                  <a:pt x="3707914" y="0"/>
                </a:lnTo>
                <a:lnTo>
                  <a:pt x="370791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84440" y="2995365"/>
            <a:ext cx="1542230" cy="1508614"/>
          </a:xfrm>
          <a:custGeom>
            <a:avLst/>
            <a:gdLst/>
            <a:ahLst/>
            <a:cxnLst/>
            <a:rect r="r" b="b" t="t" l="l"/>
            <a:pathLst>
              <a:path h="1508614" w="1542230">
                <a:moveTo>
                  <a:pt x="0" y="0"/>
                </a:moveTo>
                <a:lnTo>
                  <a:pt x="1542230" y="0"/>
                </a:lnTo>
                <a:lnTo>
                  <a:pt x="154223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175196" y="2995365"/>
            <a:ext cx="1760986" cy="1508614"/>
          </a:xfrm>
          <a:custGeom>
            <a:avLst/>
            <a:gdLst/>
            <a:ahLst/>
            <a:cxnLst/>
            <a:rect r="r" b="b" t="t" l="l"/>
            <a:pathLst>
              <a:path h="1508614" w="1760986">
                <a:moveTo>
                  <a:pt x="0" y="0"/>
                </a:moveTo>
                <a:lnTo>
                  <a:pt x="1760986" y="0"/>
                </a:lnTo>
                <a:lnTo>
                  <a:pt x="176098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84708" y="2995365"/>
            <a:ext cx="1750048" cy="1508614"/>
          </a:xfrm>
          <a:custGeom>
            <a:avLst/>
            <a:gdLst/>
            <a:ahLst/>
            <a:cxnLst/>
            <a:rect r="r" b="b" t="t" l="l"/>
            <a:pathLst>
              <a:path h="1508614" w="1750048">
                <a:moveTo>
                  <a:pt x="0" y="0"/>
                </a:moveTo>
                <a:lnTo>
                  <a:pt x="1750048" y="0"/>
                </a:lnTo>
                <a:lnTo>
                  <a:pt x="175004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570330" y="1408927"/>
            <a:ext cx="10857596" cy="99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69"/>
              </a:lnSpc>
            </a:pPr>
            <a:r>
              <a:rPr lang="en-US" sz="6556" b="true">
                <a:solidFill>
                  <a:srgbClr val="043B87"/>
                </a:solidFill>
                <a:latin typeface="Lato Bold"/>
                <a:ea typeface="Lato Bold"/>
                <a:cs typeface="Lato Bold"/>
                <a:sym typeface="Lato Bold"/>
              </a:rPr>
              <a:t>Kết luận và hướng phát triển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5686" y="4699241"/>
            <a:ext cx="4119596" cy="171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601" b="true">
                <a:solidFill>
                  <a:srgbClr val="043B87"/>
                </a:solidFill>
                <a:latin typeface="Lato Bold"/>
                <a:ea typeface="Lato Bold"/>
                <a:cs typeface="Lato Bold"/>
                <a:sym typeface="Lato Bold"/>
              </a:rPr>
              <a:t>Mô hình kết hợp RFM và</a:t>
            </a:r>
          </a:p>
          <a:p>
            <a:pPr algn="ctr">
              <a:lnSpc>
                <a:spcPts val="3511"/>
              </a:lnSpc>
            </a:pPr>
            <a:r>
              <a:rPr lang="en-US" sz="2601" b="true">
                <a:solidFill>
                  <a:srgbClr val="043B87"/>
                </a:solidFill>
                <a:latin typeface="Lato Bold"/>
                <a:ea typeface="Lato Bold"/>
                <a:cs typeface="Lato Bold"/>
                <a:sym typeface="Lato Bold"/>
              </a:rPr>
              <a:t>trải nghiệm dịch vụ giúp</a:t>
            </a:r>
          </a:p>
          <a:p>
            <a:pPr algn="ctr">
              <a:lnSpc>
                <a:spcPts val="3511"/>
              </a:lnSpc>
            </a:pPr>
            <a:r>
              <a:rPr lang="en-US" sz="2601" b="true">
                <a:solidFill>
                  <a:srgbClr val="043B87"/>
                </a:solidFill>
                <a:latin typeface="Lato Bold"/>
                <a:ea typeface="Lato Bold"/>
                <a:cs typeface="Lato Bold"/>
                <a:sym typeface="Lato Bold"/>
              </a:rPr>
              <a:t>nhận diện bốn nhóm khách</a:t>
            </a:r>
          </a:p>
          <a:p>
            <a:pPr algn="ctr">
              <a:lnSpc>
                <a:spcPts val="3511"/>
              </a:lnSpc>
            </a:pPr>
            <a:r>
              <a:rPr lang="en-US" sz="2601" b="true">
                <a:solidFill>
                  <a:srgbClr val="043B87"/>
                </a:solidFill>
                <a:latin typeface="Lato Bold"/>
                <a:ea typeface="Lato Bold"/>
                <a:cs typeface="Lato Bold"/>
                <a:sym typeface="Lato Bold"/>
              </a:rPr>
              <a:t>hàng có nhu cầu khác nhau.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87704" y="4699241"/>
            <a:ext cx="3624475" cy="171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601" b="true">
                <a:solidFill>
                  <a:srgbClr val="043B87"/>
                </a:solidFill>
                <a:latin typeface="Lato Bold"/>
                <a:ea typeface="Lato Bold"/>
                <a:cs typeface="Lato Bold"/>
                <a:sym typeface="Lato Bold"/>
              </a:rPr>
              <a:t>Kết quả nhấn mạnh giao</a:t>
            </a:r>
          </a:p>
          <a:p>
            <a:pPr algn="ctr">
              <a:lnSpc>
                <a:spcPts val="3511"/>
              </a:lnSpc>
            </a:pPr>
            <a:r>
              <a:rPr lang="en-US" sz="2601" b="true">
                <a:solidFill>
                  <a:srgbClr val="043B87"/>
                </a:solidFill>
                <a:latin typeface="Lato Bold"/>
                <a:ea typeface="Lato Bold"/>
                <a:cs typeface="Lato Bold"/>
                <a:sym typeface="Lato Bold"/>
              </a:rPr>
              <a:t>hàng đúng hẹn là yếu tố</a:t>
            </a:r>
          </a:p>
          <a:p>
            <a:pPr algn="ctr">
              <a:lnSpc>
                <a:spcPts val="3511"/>
              </a:lnSpc>
            </a:pPr>
            <a:r>
              <a:rPr lang="en-US" sz="2601" b="true">
                <a:solidFill>
                  <a:srgbClr val="043B87"/>
                </a:solidFill>
                <a:latin typeface="Lato Bold"/>
                <a:ea typeface="Lato Bold"/>
                <a:cs typeface="Lato Bold"/>
                <a:sym typeface="Lato Bold"/>
              </a:rPr>
              <a:t>quan trọng gắn với trải</a:t>
            </a:r>
          </a:p>
          <a:p>
            <a:pPr algn="ctr">
              <a:lnSpc>
                <a:spcPts val="3511"/>
              </a:lnSpc>
            </a:pPr>
            <a:r>
              <a:rPr lang="en-US" sz="2601" b="true">
                <a:solidFill>
                  <a:srgbClr val="043B87"/>
                </a:solidFill>
                <a:latin typeface="Lato Bold"/>
                <a:ea typeface="Lato Bold"/>
                <a:cs typeface="Lato Bold"/>
                <a:sym typeface="Lato Bold"/>
              </a:rPr>
              <a:t>nghiệm khách hàng.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12687" y="4699241"/>
            <a:ext cx="4563078" cy="171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601" b="true">
                <a:solidFill>
                  <a:srgbClr val="043B87"/>
                </a:solidFill>
                <a:latin typeface="Lato Bold"/>
                <a:ea typeface="Lato Bold"/>
                <a:cs typeface="Lato Bold"/>
                <a:sym typeface="Lato Bold"/>
              </a:rPr>
              <a:t>Bước tiếp theo là kiểm định</a:t>
            </a:r>
          </a:p>
          <a:p>
            <a:pPr algn="ctr">
              <a:lnSpc>
                <a:spcPts val="3511"/>
              </a:lnSpc>
            </a:pPr>
            <a:r>
              <a:rPr lang="en-US" sz="2601" b="true">
                <a:solidFill>
                  <a:srgbClr val="043B87"/>
                </a:solidFill>
                <a:latin typeface="Lato Bold"/>
                <a:ea typeface="Lato Bold"/>
                <a:cs typeface="Lato Bold"/>
                <a:sym typeface="Lato Bold"/>
              </a:rPr>
              <a:t>các can thiệp bằng thử</a:t>
            </a:r>
          </a:p>
          <a:p>
            <a:pPr algn="ctr">
              <a:lnSpc>
                <a:spcPts val="3511"/>
              </a:lnSpc>
            </a:pPr>
            <a:r>
              <a:rPr lang="en-US" sz="2601" b="true">
                <a:solidFill>
                  <a:srgbClr val="043B87"/>
                </a:solidFill>
                <a:latin typeface="Lato Bold"/>
                <a:ea typeface="Lato Bold"/>
                <a:cs typeface="Lato Bold"/>
                <a:sym typeface="Lato Bold"/>
              </a:rPr>
              <a:t>nghiệm A/B và theo dõi</a:t>
            </a:r>
          </a:p>
          <a:p>
            <a:pPr algn="ctr">
              <a:lnSpc>
                <a:spcPts val="3511"/>
              </a:lnSpc>
            </a:pPr>
            <a:r>
              <a:rPr lang="en-US" sz="2601" b="true">
                <a:solidFill>
                  <a:srgbClr val="043B87"/>
                </a:solidFill>
                <a:latin typeface="Lato Bold"/>
                <a:ea typeface="Lato Bold"/>
                <a:cs typeface="Lato Bold"/>
                <a:sym typeface="Lato Bold"/>
              </a:rPr>
              <a:t>hiệu quả theo từng phân khúc.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384440" y="6854356"/>
            <a:ext cx="12644096" cy="1508614"/>
          </a:xfrm>
          <a:custGeom>
            <a:avLst/>
            <a:gdLst/>
            <a:ahLst/>
            <a:cxnLst/>
            <a:rect r="r" b="b" t="t" l="l"/>
            <a:pathLst>
              <a:path h="1508614" w="12644096">
                <a:moveTo>
                  <a:pt x="0" y="0"/>
                </a:moveTo>
                <a:lnTo>
                  <a:pt x="12644096" y="0"/>
                </a:lnTo>
                <a:lnTo>
                  <a:pt x="1264409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901313" y="7295220"/>
            <a:ext cx="11342911" cy="626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5"/>
              </a:lnSpc>
            </a:pPr>
            <a:r>
              <a:rPr lang="en-US" b="true" sz="3849" spc="-77">
                <a:solidFill>
                  <a:srgbClr val="FF7F23"/>
                </a:solidFill>
                <a:latin typeface="Lato Bold"/>
                <a:ea typeface="Lato Bold"/>
                <a:cs typeface="Lato Bold"/>
                <a:sym typeface="Lato Bold"/>
              </a:rPr>
              <a:t>Từ phân khúc dữ liệu đến hành động có thể đo lường.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DAHZGZ9i6mA</dc:identifier>
  <dcterms:modified xsi:type="dcterms:W3CDTF">2011-08-01T06:04:30Z</dcterms:modified>
  <cp:revision>1</cp:revision>
  <dc:title>Phân khúc khách hàng Olist kết hợp RFM và trải nghiệm dịch vụ</dc:title>
</cp:coreProperties>
</file>