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5A29F"/>
                </a:solidFill>
              </a:defRPr>
            </a:pPr>
            <a:r>
              <a:t>BÁO CÁO ĐỒ ÁN KHAI THÁC DỮ LIỆU</a:t>
            </a:r>
          </a:p>
          <a:p>
            <a:pPr>
              <a:spcAft>
                <a:spcPts val="2400"/>
              </a:spcAft>
              <a:defRPr sz="3000" b="1">
                <a:solidFill>
                  <a:srgbClr val="FFFFFF"/>
                </a:solidFill>
              </a:defRPr>
            </a:pPr>
            <a:r>
              <a:t>Xây Dựng Mô Hình Phân Khúc Khách Hàng E-Commerce Olist</a:t>
            </a:r>
            <a:br/>
            <a:r>
              <a:t>Kết Hợp RFM &amp; Trải Nghiệm Dịch Vụ</a:t>
            </a:r>
          </a:p>
          <a:p>
            <a:pPr>
              <a:defRPr sz="1300">
                <a:solidFill>
                  <a:srgbClr val="DCE6F2"/>
                </a:solidFill>
              </a:defRPr>
            </a:pPr>
            <a:r>
              <a:t>Nhóm thực hiện:</a:t>
            </a:r>
            <a:br/>
            <a:r>
              <a:t>• Thành viên A: Trưởng nhóm, Kỹ sư Dữ liệu &amp; Mô hình hóa (Data Pipeline, Clustering)</a:t>
            </a:r>
            <a:br/>
            <a:r>
              <a:t>• Thành viên B: Chuyên viên Phân tích Trải nghiệm &amp; Dịch vụ (Shipping, Reviews, SLAs)</a:t>
            </a:r>
            <a:br/>
            <a:r>
              <a:t>• Thành viên C: Chuyên viên Phân tích Loyalty &amp; Chiến lược (RFM, Online Retail II, Marketing)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1. Đặt Vấn Đề &amp; Mục Tiêu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Bối Cảnh &amp; Thách Thức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Thị trường Thương mại Điện tử cạnh tranh khốc liệt; chi phí thu hút khách mới (CAC) cao gấp 5-7 lần chi phí giữ chân khách cũ.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Đặc thù dữ liệu Olist Brazil: Có tới 96.99% khách hàng CHỈ MUA ĐÚNG 1 LẦN trong suốt 2 năm.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Nếu chỉ áp dụng mô hình RFM truyền thống, chiều Frequency (tần suất) sẽ mất tác dụng phân tách.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Khoảng cách địa lý rộng lớn tại Brazil dẫn đến sự phân hóa sâu sắc về phí vận chuyển và thời gian giao hàng.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Mục Tiêu &amp; Hướng Tiếp Cận Mới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Xây dựng Pipeline làm sạch và gộp dữ liệu chuẩn mực ở cấp khách hàng thực tế (customer_unique_id).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Đột phá phương pháp: Kết hợp đồng thời 3 nhóm đặc trưng: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  1. Nhóm Loyalty / RFM (Recency, Monetary, AOV, Trả góp)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  2. Nhóm Vận chuyển (Phí ship, Tỷ lệ phí ship / đơn, Số ngày giao)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  3. Nhóm Trải nghiệm &amp; Hài lòng (Điểm đánh giá, Giao trễ hạn)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Ứng dụng thuật toán phân cụm (K-Means, GMM) để tìm ra 4 chân dung khách hàng hành động được (Actionable Segments).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2. Dữ Liệu &amp; Quy Trình Xử Lý Pipeline (Mảng 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Bộ Dữ Liệu Olist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9 bảng dữ liệu quan hệ: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orders (99,441 đơn)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customers (99,441 dòng)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order_items (112,650 dòng)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order_payments (103,886 dòng)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order_reviews (99,224 dòng)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products &amp; translation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sellers &amp; geolocation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Giai đoạn: 2016 - 2018 tại Brazil.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82880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Quy Tắc Làm Sạch Cốt Lõi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Lọc đơn 'delivered' hợp lệ: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Loại bỏ đơn hủy, không giao và 8 đơn thiếu ngày nhận -&gt; Còn 96,470 đơn chuẩn.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Xử lý quan hệ 1-Nhiều: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1 đơn có nhiều món hàng hoặc nhiều lần thanh toán. Tiến hành SUM/AGG ở cấp đơn trước khi Join để chống trùng lặp dòng.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Phân biệt chìa khóa vàng: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customer_id = Mã giao dịch đơn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customer_unique_id = Khách hàng thực sự (Bắt buộc dùng để gom nhóm).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Sản Phẩm Đầu Ra Pipeline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Tệp olist_clean.parquet: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93,350 khách hàng duy nhất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29 đặc trưng đa chiều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Dung lượng chỉ 7.3 MB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Kiến trúc mã nguồn: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src/data_pipeline.py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02_olist_data_pipeline.ipynb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Bàn giao đầu vào chung: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Cung cấp dữ liệu chuẩn hóa cho cả Thành viên B và 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3. Khám Phá Hành Vi Mua Sắm &amp; Địa Lý (EDA Olist)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Tập Trung Địa Lý Vượt Trội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Bang São Paulo (SP) chiếm 42.0% tổng lượng đơn hàng toàn quốc.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Khu vực Đông Nam (Sudeste: SP, RJ, MG) chiếm tới hơn 68% khách hàng, có hạ tầng logistics vượt trội hơn vùng sâu/xa.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06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Thanh Toán &amp; Mua Sắm Trả Góp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Thẻ tín dụng (Credit Card) áp đảo với 74% số giao dịch và 78% tổng doanh thu.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Hình thức trả góp (Installments) rất phổ biến: Nhiều khách hàng mua đơn giá trị cao chia thành 6 - 10 kỳ.</a:t>
            </a:r>
          </a:p>
        </p:txBody>
      </p:sp>
      <p:pic>
        <p:nvPicPr>
          <p:cNvPr id="7" name="Picture 6" descr="fig_03_phan_phoi_review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0365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4. Phân Tích Giao Hàng &amp; Trải Nghiệm (Mảng 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Phát Hiện Then Chốt Về Dịch Vụ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Đơn trễ hẹn hiếm nhưng cực kỳ 'đắt giá':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Tỷ lệ giao trễ chỉ 6.77% (6,534 đơn).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Nhưng nhóm trễ hẹn bị chấm trung bình 2.27 sao (so với 4.29 sao của nhóm đúng hạn - Mất 2.02 sao!).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Tác động là phân ngưỡng (Non-linear):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Về sớm hơn hẹn &gt; 8 ngày: Review ~ 4.32 sao.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Trễ 1-3 ngày: Điểm tụt xuống 3.29 sao.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Trễ 4-7 ngày: Còn 2.11 sao.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Trễ &gt; 7 ngày: Chạm đáy 1.70 sao.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Phí vận chuyển: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Chiếm trung bình 16.6% tổng chi tiêu, tỷ lệ freight_ratio trung vị là 0.22.</a:t>
            </a:r>
          </a:p>
        </p:txBody>
      </p:sp>
      <p:pic>
        <p:nvPicPr>
          <p:cNvPr id="5" name="Picture 4" descr="fig_04_review_dung_han_vs_giao_t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19826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5. Tiền Xử Lý Đặc Trưng Cho Mô Hình Phân Cụm (A06)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3 Khuyến Nghị Khoa Học Đã Áp Dụng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1. Xử lý phân phối lệch phải (Skewness):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Các biến Monetary, Frequency, Delivery Days có đuôi cực đoan.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Áp dụng Winsorization (1% - 99%) cắt tỉa ngoại lai.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Biến đổi log1p (ln(1+x)) đưa về phân phối chuẩn hóa.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2. Xử lý ngưỡng phi tuyến giao trễ: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Bổ sung cờ is_severely_delayed (trễ &gt; 3 ngày) giúp mô hình nắm bắt điểm gãy hài lòng.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3. Khử đa cộng tuyến &amp; đặc trưng dư thừa: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Loại bỏ low_review_count (tương quan -0.655 với review).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Chuẩn hóa StandardScaler (Z-score: mean=0, std=1).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Bộ Đặc Trưng Cuối Cùng Đưa Vào Mô Hình (S02)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1. recency (Số ngày kể từ lần mua gần nhất)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2. frequency_log (Tần suất mua sắm đã log)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3. monetary_log (Tổng chi tiêu tích lũy đã log)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4. avg_order_value_log (Giá trị đơn hàng trung bình)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5. avg_delivery_duration_days_log (Thời gian giao hàng)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6. delayed_order_ratio (Tỷ lệ đơn giao trễ)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7. is_severely_delayed (Cờ giao trễ nghiêm trọng &gt; 3 ngày)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8. freight_ratio (Tỷ lệ phí ship / tổng giá trị đơn)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9. avg_review_score (Điểm đánh giá trung bình 1-5 sao)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10. max_payment_installments_log (Số kỳ trả góp lớn nhất)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6. Đánh Giá &amp; Quyết Định Số Lượng Cụm k (A08)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Kết Quả Đánh Giá Toán Học (k = 3 đến 7)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Elbow Method (Inertia): Độ dốc quán tính giảm mạnh và xuất hiện điểm khuỷu tay rõ rệt tại k = 4 (Inertia = 501,444).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Silhouette Score: Đạt đỉnh cao nhất tại k = 4 (Silhouette = 0.2413), phân tách tốt hơn hẳn k = 5, 6, 7.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Davies-Bouldin Index: Đạt giá trị thấp nhất tại k = 4 (DB = 1.1945) - chứng minh khoảng cách nội cụm nhỏ và tâm cụm tách biệt.</a:t>
            </a:r>
          </a:p>
        </p:txBody>
      </p:sp>
      <p:pic>
        <p:nvPicPr>
          <p:cNvPr id="5" name="Picture 4" descr="fig_09_elbow_silhouette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74720"/>
            <a:ext cx="10698480" cy="29955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7. Không Gian Phân Cụm Khách Hàng (2D PCA)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Phân Tích Thành Phần Chính (PCA)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Giữ lại 52.04% phương sai toàn phần.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Ý nghĩa trục PCA 1 (Hoành độ):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Phản ánh chiều Trải nghiệm Dịch vụ &amp; Độ trễ vận chuyển (Tách biệt rõ rệt nhóm At-Risk với phần còn lại).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Ý nghĩa trục PCA 2 (Tung độ):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Phản ánh chiều Giá trị Chi tiêu Monetary &amp; Hình thức Trả góp (Tách biệt nhóm VIP Champions với nhóm Phổ thông).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Thuật toán đối chiếu: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K-Means: Phân vùng rõ ràng, ranh giới ổn định.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GMM: Xác nhận cấu trúc 4 cụm với phân phối xác suất cao.</a:t>
            </a:r>
          </a:p>
        </p:txBody>
      </p:sp>
      <p:pic>
        <p:nvPicPr>
          <p:cNvPr id="5" name="Picture 4" descr="fig_10_pca_clusters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34414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8. Chân Dung 4 Phân Khúc Khách Hàng Chính Thức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1. VIP Champions</a:t>
            </a:r>
            <a:br/>
            <a:r>
              <a:t>(~17.5% khách)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Chi tiêu vượt trội: &gt; 620 BRL (gấp 4 lần trung bình).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Tần suất mua lặp lại cao nhất toàn sàn.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Sử dụng trả góp nhiều kỳ (6 - 10 kỳ).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Đánh giá rất cao: 4.2 / 5 sao.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2. Satisfied Mainstream</a:t>
            </a:r>
            <a:br/>
            <a:r>
              <a:t>(~50.2% khách)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Nhóm khách hàng phổ thông cốt lõi lớn nhất.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Giá trị vừa phải (~150 BRL).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Giao hàng nhanh (~11 ngày), đúng hẹn.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Review rất cao: 4.3 / 5 sao.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3. Freight-Sensitive</a:t>
            </a:r>
            <a:br/>
            <a:r>
              <a:t>(~24.5% khách)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Khách hàng nhạy cảm phí vận chuyển.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Đơn hàng giá trị nhỏ (~60 BRL).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Phí ship chiếm tới 35% - 45% giá trị đơn.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Thanh toán chủ yếu trả thẳng hoặc Boleto.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4. At-Risk Delivery</a:t>
            </a:r>
            <a:br/>
            <a:r>
              <a:t>(~7.8% khách)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100% đơn hàng bị giao trễ hẹn.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Thời gian giao kéo dài trung bình 28.5 ngày.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Điểm review chạm đáy: chỉ 1.7 / 5 sao.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Nguy cơ rời bỏ sàn vĩnh viễn rất cao.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9. Đề Xuất Cải Thiện Chất Lượng Dịch Vụ (Mảng 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Xử Lý Nhóm At-Risk (Giao Trễ)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Hệ thống cảnh báo sớm (Early-Warning):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Khi đơn hàng có nguy cơ giao trễ &gt; 3 ngày, hệ thống tự động gắn cờ cảnh báo cho đơn vị vận chuyển.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Quy trình xử lý khiếu nại chủ động (Proactive SLA):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Tự động gửi SMS thông báo xin lỗi kèm mã giảm giá 15% - 20% cho đơn tiếp theo ngay khi phát hiện trễ, KHÔNG ĐỢI khách hàng phàn nàn.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Tái cấu trúc tuyến giao hàng: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Kiểm tra các nhà bán và tuyến đường liên bang có tỷ lệ giao trễ cao (đặc biệt tuyến đi bang Bahia và vùng Đông Bắc).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Chính Sách Phí Vận Chuyển Linh Hoạt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Giải quyết bài toán cho nhóm Freight-Sensitive: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Phí ship chiếm tới 35-45% là rào cản lớn khiến khách không quay lại mua sắm.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Áp dụng ngưỡng Freeship thông minh: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Miễn phí vận chuyển khi đơn hàng đạt ngưỡng tối thiểu 120 BRL (vừa kích thích khách mua thêm hàng để tăng AOV, vừa giải tỏa áp lực phí ship).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Gộp đơn hàng cùng người bán (Bundle Orders):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Khuyến khích mua nhiều sản phẩm từ cùng một shop để chia sẻ phí vận chuyển.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10. Chiến Lược Tiếp Thị Theo Phân Khúc (Mảng 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Kế Hoạch Tiếp Thị Đa Tầng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Phân khúc VIP Champions (Chi tiêu cao):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Triển khai chương trình 'Olist Club' với ưu đãi độc quyền, quà tặng sinh nhật, hỗ trợ trả góp 0% lãi suất kỳ hạn dài.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Phân khúc Satisfied Mainstream (Phổ thông):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Mục tiêu: Kích hoạt đơn hàng thứ 2 (Repeat Purchase).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Gửi email gợi ý sản phẩm cá nhân hóa theo ngành hàng yêu thích sau 30 và 60 ngày kể từ lần mua đầu.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Phân khúc Freight-Sensitive: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Đẩy mạnh voucher giảm giá vận chuyển vào các khung giờ vàng hoặc ngày hội mua sắm (Mega Sale).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Đối Chiếu Với Online Retail II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Khác biệt cấu trúc: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Online Retail II (UK) là sàn bán sỉ/bán lẻ quà tặng với tỷ lệ mua lặp lại cao (&gt;70%), khách hàng có tính gắn bó tự nhiên.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Olist (Brazil) là sàn Marketplace đa nhà bán với tỷ lệ mua lặp lại thấp (3%), khách hàng đến vì nhu cầu đơn lẻ.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Bài học chiến lược: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Với Olist, trọng tâm giữ chân không thể dựa vào việc 'chờ khách tự quay lại', mà phải dựa vào trải nghiệm dịch vụ xuất sắc ở đơn hàng đầu tiên.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5A29F"/>
                </a:solidFill>
              </a:defRPr>
            </a:pPr>
            <a:r>
              <a:t>ĐỒ ÁN KHAI THÁC DỮ LIỆU - PHÂN KHÚC KHÁCH HÀNG OLIST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11. Kiến Trúc Kỹ Thuật &amp; Hướng Phát Triển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Kiến Trúc Kỹ Thuật Dự Án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Quy trình Git Flow chuẩn mực: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Phân chia rõ ràng các nhánh develop, main, và feature branches.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Quản lý lịch sử commit và Pull Request minh bạch theo phân công A, B, C.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Mã nguồn module hóa (src/):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data_pipeline.py: Hợp nhất và xuất parquet.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features.py: Tiền xử lý, winsorize, scaling, PCA.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models.py: Huấn luyện K-Means, GMM, đánh giá.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Hiệu năng lưu trữ: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Dùng file Parquet nén cột (7.3MB), tốc độ đọc nhanh gấp 10 lần CSV thông thường.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Hướng Phát Triển Tiếp Theo (Tuần 6 - 8)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Mô hình dự đoán phân khúc cho khách mới (A11):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Huấn luyện Random Forest / XGBoost để tự động gán cụm cho khách hàng mới ngay khi phát sinh giao dịch đầu tiên.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Giải thích mô hình bằng SHAP: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Xác định đặc trưng nào quyết định đưa khách hàng vào nhóm VIP hay At-Risk.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Triển khai Ứng dụng Tương tác Streamlit (A12):</a:t>
            </a:r>
          </a:p>
          <a:p>
            <a:pPr>
              <a:spcBef>
                <a:spcPts val="600"/>
              </a:spcBef>
              <a:defRPr sz="1250">
                <a:solidFill>
                  <a:srgbClr val="1E1E1E"/>
                </a:solidFill>
              </a:defRPr>
            </a:pPr>
            <a:r>
              <a:t>• • Xây dựng Dashboard tra cứu hồ sơ cụm, xem radar chart và mô phỏng chính sách kinh doanh theo thời gian thực.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5A29F"/>
                </a:solidFill>
              </a:defRPr>
            </a:pPr>
            <a:r>
              <a:t>TỔNG KẾT BÀI THUYẾT TRÌNH</a:t>
            </a:r>
          </a:p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</a:defRPr>
            </a:pPr>
            <a:r>
              <a:t>3 Thông Điệp Cốt Lõi Từ Dự Án:</a:t>
            </a:r>
          </a:p>
          <a:p>
            <a:pPr>
              <a:spcAft>
                <a:spcPts val="2400"/>
              </a:spcAft>
              <a:defRPr sz="1500">
                <a:solidFill>
                  <a:srgbClr val="E6F0FA"/>
                </a:solidFill>
              </a:defRPr>
            </a:pPr>
            <a:r>
              <a:t>1. Trải nghiệm dịch vụ quyết định sự hài lòng: Giao trễ dù chỉ 6.77% nhưng làm mất hơn 2 sao đánh giá.</a:t>
            </a:r>
            <a:br/>
            <a:r>
              <a:t>2. Phân cụm đa chiều k = 4 giải quyết bài toán khách mua 1 lần của sàn Olist hiệu quả hơn RFM đơn thuần.</a:t>
            </a:r>
            <a:br/>
            <a:r>
              <a:t>3. Mỗi phân khúc đòi hỏi hành động riêng: VIP cần đặc quyền, At-Risk cần SLA chủ động, Freight-Sensitive cần Freeship thông minh.</a:t>
            </a:r>
          </a:p>
          <a:p>
            <a:pPr>
              <a:defRPr sz="1800" b="1">
                <a:solidFill>
                  <a:srgbClr val="35A29F"/>
                </a:solidFill>
              </a:defRPr>
            </a:pPr>
            <a:r>
              <a:t>Cảm ơn Thầy Cô và các bạn đã chú ý lắng nghe!</a:t>
            </a:r>
            <a:br/>
            <a:r>
              <a:t>Xin mời Thầy Cô và các bạn đặt câu hỏi (Q&amp;A).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